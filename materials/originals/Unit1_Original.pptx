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 clase con una pregunta: qué hace que un sistema parezca inteligente. Evitar empezar con definiciones largas.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resultados como criterios de éxito para el tema, no como una lista burocrática.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ejemplos a los estudiantes: ChatGPT, un robot, un sistema de recomendación, un coche autónomo.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de trabajo, no dogmática. Enfatizar que la asignatura se centra en sistemas que actúan para alcanzar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las cuatro familias de definiciones con el material del libro. Marcar acting rationally como el enfoque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convertir esta parte en una clase de historia. Usarla para mostrar el enfoque acting humanly y contrastarlo con rational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¿qué capacidades usa hoy ChatGPT? ¿Cuáles no tiene por sí solo si no se conecta a herramientas?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Subrayar que la racionalidad es un criterio de diseño, no un juicio moral ni una garantía de éxito.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Historia comprimida. Evitar fechas innecesarias; el objetivo es justificar que los fundamentos siguen siendo actuales.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permite actualizar el tema sin perder el enfoque clásico de la asignatura.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Repetir la definición varias veces con ejemplos: robot, software bot, tutor inteligente, agente de ciberseguridad.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la metáfora: sentir → decidir → actuar → observar consecuencias.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es una función ideal/matemática, no necesariamente una tabla implementable.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Puede haber muchas implementaciones para la misma función de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dedicar demasiado tiempo al mundo aspiradora, pero usarlo como puente para racionalidad y PEAS.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racionalidad no se evalúa después de ver si tuvo suerte, sino según la información disponible en el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elegir la ruta más segura no garantiza no encontrar un atasco o accidente.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IA responsable: lo que se mide condiciona lo que el agente optimiza.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PEAS será herramienta recurrente para analizar sistemas.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 los alumnos qué falta o qué cambiarían.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breve. Útil para bajar el concepto a IA generativa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clasificar un entorno no es teoría decorativa: condiciona estructuras de datos y algoritmos.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ejemplos: ajedrez vs póker; Loopover vs taxi autónomo.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 clave: búsqueda offline requiere normalmente entornos estáticos o modelables.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juegos competitivos llevan a búsqueda adversarial; de ahí el Tema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conecta directamente con el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una jerarquía estricta de “mejor”; cada arquitectura se adapta a un tipo de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aspiradora. Limitación: no memoria, no objetivos explícitos.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un coche recuerda posiciones de otros vehículos de fotogramas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empieza a aparecer la búsqueda como mecanismo natural de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desarrollar teoría matemática profunda; solo introducir la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aprendizaje por refuerzo sin anticipar demasiada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Muy actual: separar modelo de agente. Un LLM puede ser motor de razonamiento, no necesariamente agente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teoría y laboratorio. No entrar aún en bitboard salvo como adelanto de representación de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tema: los agentes basados en objetivos necesitan buscar o planificar.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20–25 minutos. Recoger 2 o 3 ejemplos en pizarra.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como cierre de clase o como cuestionario rápido en Campus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enlazar explícitamente con el Tema 2 y la primera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640080"/>
            <a:ext cx="1691640" cy="1691640"/>
          </a:xfrm>
          <a:prstGeom prst="ellipse">
            <a:avLst/>
          </a:prstGeom>
          <a:solidFill>
            <a:srgbClr val="1E3A8A">
              <a:alpha val="82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3977640"/>
            <a:ext cx="1051560" cy="105156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58368"/>
            <a:ext cx="2487168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85800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INTELLIGENT 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7635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Intelligent Agents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49808" y="5916168"/>
            <a:ext cx="76809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Science Degree · Escuela Superior de Informática · UCLM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6291072"/>
            <a:ext cx="3931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Rubén Juárez Cádiz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54480"/>
            <a:ext cx="685800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581912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153619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main approaches used to define AI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685800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770632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72491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agents, percepts, actions and environments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685800" cy="347472"/>
          </a:xfrm>
          <a:prstGeom prst="roundRect">
            <a:avLst>
              <a:gd name="adj" fmla="val 1842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959352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91363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rationality from success or omniscience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685800" cy="347472"/>
          </a:xfrm>
          <a:prstGeom prst="roundRect">
            <a:avLst>
              <a:gd name="adj" fmla="val 18421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581912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153619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Specify a task environment using PEAS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685800" cy="347472"/>
          </a:xfrm>
          <a:prstGeom prst="roundRect">
            <a:avLst>
              <a:gd name="adj" fmla="val 18421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770632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272491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environments and agent architectures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09360" y="3931920"/>
            <a:ext cx="685800" cy="347472"/>
          </a:xfrm>
          <a:prstGeom prst="roundRect">
            <a:avLst>
              <a:gd name="adj" fmla="val 18421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959352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78040" y="3913632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agents with state-space search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0120" y="5440680"/>
            <a:ext cx="1014984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this unit, students should be able to reason about an AI system as an agent operating in a task environment.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AI?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question before definitions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27632"/>
            <a:ext cx="10332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a system intelligent?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960120" y="283464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9260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Can it perceive?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749040" y="283464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9260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Can it reason?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537960" y="283464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9260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Can it learn?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326880" y="283464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29260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Can it act?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5568" y="5074920"/>
            <a:ext cx="9921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Intelligence combines all four dimensions, but different systems emphasize different capabilities.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AI?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definition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103327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Intelligence is the field concerned with building computational systems capable of perceiving, reasoning, learning and acting to achieve goals.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51560" y="3977640"/>
            <a:ext cx="960120" cy="9601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178808"/>
            <a:ext cx="960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102352"/>
            <a:ext cx="1783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057400" y="4453128"/>
            <a:ext cx="1691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94760" y="3977640"/>
            <a:ext cx="960120" cy="9601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4178808"/>
            <a:ext cx="960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5102352"/>
            <a:ext cx="1783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800600" y="4453128"/>
            <a:ext cx="1691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37960" y="397764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178808"/>
            <a:ext cx="960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0" y="5102352"/>
            <a:ext cx="1783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543800" y="4453128"/>
            <a:ext cx="1691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81160" y="3977640"/>
            <a:ext cx="960120" cy="9601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4178808"/>
            <a:ext cx="960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69680" y="5102352"/>
            <a:ext cx="1783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AI?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approaches to AI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208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830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Thinking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humanly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830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Thinking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rationally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0" y="315468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2461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Acting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humanly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26480" y="315468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2461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Acting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rationally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166360"/>
            <a:ext cx="99669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course mainly adopts the rational-agent view: design systems that choose effective actions.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AI?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Acting humanly: the Turing Test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9202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Human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interrogator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14173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Hidden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respondent 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7760" y="30175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Hidden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respondent 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63240" y="2395728"/>
            <a:ext cx="1737360" cy="-56692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63240" y="2395728"/>
            <a:ext cx="1737360" cy="1033272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315200" y="1828800"/>
            <a:ext cx="35661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machine passes if the interrogator cannot reliably distinguish it from a human through conversation.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315200" y="3520440"/>
            <a:ext cx="35661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as an operational test, but not the only way to define intelligence.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AI?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Capabilities behind the Turing Test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08760"/>
            <a:ext cx="4343400" cy="713232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0020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Natural Language Processing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4343400" cy="713232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60020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Knowledge Representation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4343400" cy="713232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74320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Automated Reasoning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89320" y="2651760"/>
            <a:ext cx="4343400" cy="713232"/>
          </a:xfrm>
          <a:prstGeom prst="roundRect">
            <a:avLst>
              <a:gd name="adj" fmla="val 15385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74320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Machine Learning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794760"/>
            <a:ext cx="4343400" cy="713232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88620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Computer Vision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89320" y="3794760"/>
            <a:ext cx="4343400" cy="713232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88620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Robotics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10058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idea is not to imitate every human detail, but to understand and engineer useful intelligent behaviour.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rational agents?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10058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rational agent acts so as to achieve the best expected outcome given what it knows.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234440" y="306324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Knowledge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794760" y="306324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Goals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55080" y="306324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Actions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915400" y="306324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Performance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154680" y="3401568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15000" y="3401568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75320" y="3401568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325880" y="4983480"/>
            <a:ext cx="9509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Rationality gives us an engineering criterion: how should the system choose an action?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very short history of AI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971800"/>
            <a:ext cx="10058400" cy="0"/>
          </a:xfrm>
          <a:prstGeom prst="line">
            <a:avLst/>
          </a:prstGeom>
          <a:noFill/>
          <a:ln w="508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281635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86000"/>
            <a:ext cx="868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1943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324612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neuron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23744" y="281635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2286000"/>
            <a:ext cx="868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1950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93392" y="324612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97096" y="281635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2286000"/>
            <a:ext cx="868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1956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66744" y="324612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Dartmouth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70448" y="281635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2976" y="2286000"/>
            <a:ext cx="868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1980s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0096" y="324612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systems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43800" y="281635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6328" y="2286000"/>
            <a:ext cx="868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13448" y="324612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17152" y="281635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2286000"/>
            <a:ext cx="868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2022+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0" y="324612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890504" y="281635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43032" y="2286000"/>
            <a:ext cx="868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60152" y="3246120"/>
            <a:ext cx="1188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93776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course starts from classical AI foundations because modern AI agents still need goals, actions, environments and search.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classical AI to modern AI agents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74520"/>
            <a:ext cx="2926080" cy="1143000"/>
          </a:xfrm>
          <a:prstGeom prst="roundRect">
            <a:avLst>
              <a:gd name="adj" fmla="val 9600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659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Classical AI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search · logic · planning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17720" y="1874520"/>
            <a:ext cx="2926080" cy="1143000"/>
          </a:xfrm>
          <a:prstGeom prst="roundRect">
            <a:avLst>
              <a:gd name="adj" fmla="val 9600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9659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Machine Learning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patterns · prediction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66760" y="1874520"/>
            <a:ext cx="2926080" cy="1143000"/>
          </a:xfrm>
          <a:prstGeom prst="roundRect">
            <a:avLst>
              <a:gd name="adj" fmla="val 9600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19659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Modern agents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models · tools · feedback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86200" y="2450592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2450592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4251960"/>
            <a:ext cx="10332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technologies, same central question: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action should the system perform next?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agent?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10287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is an entity that perceives its environment through sensors and acts upon that environment through actuators.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88720" y="3657600"/>
            <a:ext cx="1828800" cy="621792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37490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Percepts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74920" y="34747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235440" y="3657600"/>
            <a:ext cx="1828800" cy="621792"/>
          </a:xfrm>
          <a:prstGeom prst="roundRect">
            <a:avLst>
              <a:gd name="adj" fmla="val 17647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72600" y="37490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Actions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063240" y="3968496"/>
            <a:ext cx="19202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23760" y="3968496"/>
            <a:ext cx="192024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754880" y="4983480"/>
            <a:ext cx="2697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perception–action cycle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1481328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572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Environment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325880" y="2743200"/>
            <a:ext cx="1920240" cy="65836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834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Sensors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9120" y="2743200"/>
            <a:ext cx="3108960" cy="65836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8346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Agent program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823960" y="2743200"/>
            <a:ext cx="1920240" cy="658368"/>
          </a:xfrm>
          <a:prstGeom prst="roundRect">
            <a:avLst>
              <a:gd name="adj" fmla="val 16667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834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Actuators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0" y="2212848"/>
            <a:ext cx="-3611880" cy="4572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73552" y="3072384"/>
            <a:ext cx="102412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43800" y="3072384"/>
            <a:ext cx="118872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84080" y="2670048"/>
            <a:ext cx="-3657600" cy="-45720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05840" y="4800600"/>
            <a:ext cx="10058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Percepts are inputs. Actions are outputs. The agent program implements the decision process between them.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agent function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102412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: P* → A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1828800" y="315468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3246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P* = percept histories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86600" y="315468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3246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 = possible actions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257800" y="3547872"/>
            <a:ext cx="1737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97280" y="4892040"/>
            <a:ext cx="9966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possible sequence of percepts, the function specifies what action the agent should take.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function ≠ agent program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37360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Agent function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ideal mathematical mapping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17720" y="1737360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8288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Agent program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concrete implementation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8288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Architecture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hardware / runtime platform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77640" y="2258568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80960" y="2258568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4297680"/>
            <a:ext cx="10241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= Architecture + Program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vacuum-cleaner world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920240"/>
            <a:ext cx="21488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01168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Dirty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1488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1168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B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Dirty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0" cy="14630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78308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7452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IF Dirty → Suck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ELSE IF A → Right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ELSE → Left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51560" y="4663440"/>
            <a:ext cx="10058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simple example lets us separate percepts, actions, state, rules and performance measures.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Rationality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10241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rational agent chooses the action expected to maximize its performance measure, given the percept sequence and built-in knowledge.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" y="3429000"/>
            <a:ext cx="4343400" cy="640080"/>
          </a:xfrm>
          <a:prstGeom prst="roundRect">
            <a:avLst>
              <a:gd name="adj" fmla="val 17143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5204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Performance measure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3429000"/>
            <a:ext cx="4343400" cy="64008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5204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Prior knowledge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4343400"/>
            <a:ext cx="4343400" cy="640080"/>
          </a:xfrm>
          <a:prstGeom prst="roundRect">
            <a:avLst>
              <a:gd name="adj" fmla="val 17143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Available actions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4343400"/>
            <a:ext cx="4343400" cy="640080"/>
          </a:xfrm>
          <a:prstGeom prst="roundRect">
            <a:avLst>
              <a:gd name="adj" fmla="val 17143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Percepts so far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Rationality is not omniscience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600200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6916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Rational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83480" y="1664208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852160" y="160020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6916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Omniscient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828800" y="2834640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9260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Rational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2898648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2900" dirty="0"/>
          </a:p>
        </p:txBody>
      </p:sp>
      <p:sp>
        <p:nvSpPr>
          <p:cNvPr id="15" name="Shape 13"/>
          <p:cNvSpPr/>
          <p:nvPr/>
        </p:nvSpPr>
        <p:spPr>
          <a:xfrm>
            <a:off x="5852160" y="283464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9260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Clairvoyant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828800" y="4069080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4160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Rational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83480" y="4133088"/>
            <a:ext cx="731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2900" dirty="0"/>
          </a:p>
        </p:txBody>
      </p:sp>
      <p:sp>
        <p:nvSpPr>
          <p:cNvPr id="20" name="Shape 18"/>
          <p:cNvSpPr/>
          <p:nvPr/>
        </p:nvSpPr>
        <p:spPr>
          <a:xfrm>
            <a:off x="5852160" y="406908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41605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Always successful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51560" y="548640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decision can still lead to a bad outcome when information is incomplete or the world is uncertain.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agents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measures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72768"/>
            <a:ext cx="10241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performance measure defines what counts as success.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1280160" y="278892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880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Bad measure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“Amount of dirt sucked”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040880" y="278892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2880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Better measure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“Clean squares over time, minus moves”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507492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poorly chosen metric can produce undesirable behaviour.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environments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241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design a rational agent, specify the task environment.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1051560" y="274320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935224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432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measure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794760" y="2743200"/>
            <a:ext cx="822960" cy="8229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935224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01752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37960" y="2743200"/>
            <a:ext cx="822960" cy="8229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935224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76072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Actuators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281160" y="2743200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2935224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50392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environments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PEAS example: autonomous taxi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508760"/>
            <a:ext cx="2423160" cy="621792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6002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1545336"/>
            <a:ext cx="7223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· legality · time · comfort · cost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51560" y="2514600"/>
            <a:ext cx="2423160" cy="621792"/>
          </a:xfrm>
          <a:prstGeom prst="roundRect">
            <a:avLst>
              <a:gd name="adj" fmla="val 17647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60604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Environment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2551176"/>
            <a:ext cx="7223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roads · traffic · pedestrians · weather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051560" y="3520440"/>
            <a:ext cx="2423160" cy="621792"/>
          </a:xfrm>
          <a:prstGeom prst="roundRect">
            <a:avLst>
              <a:gd name="adj" fmla="val 17647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6118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Actuators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3557016"/>
            <a:ext cx="7223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· accelerator · brakes · indicators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51560" y="4526280"/>
            <a:ext cx="2423160" cy="621792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617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Sensors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03320" y="4562856"/>
            <a:ext cx="7223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cameras · GPS · LiDAR · speed sensors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environments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activity: PEAS for an AI tutor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17320"/>
            <a:ext cx="10149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pairs, design the PEAS description of a conversational AI tutor for this course.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417320" y="2788920"/>
            <a:ext cx="4069080" cy="64008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8803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Performance: learning, correctness, safety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89320" y="2788920"/>
            <a:ext cx="4069080" cy="640080"/>
          </a:xfrm>
          <a:prstGeom prst="roundRect">
            <a:avLst>
              <a:gd name="adj" fmla="val 17143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8803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Environment: student, course material, conversation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17320" y="3749040"/>
            <a:ext cx="4069080" cy="640080"/>
          </a:xfrm>
          <a:prstGeom prst="roundRect">
            <a:avLst>
              <a:gd name="adj" fmla="val 17143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8404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Actuators: text, hints, tool calls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89320" y="3749040"/>
            <a:ext cx="4069080" cy="640080"/>
          </a:xfrm>
          <a:prstGeom prst="roundRect">
            <a:avLst>
              <a:gd name="adj" fmla="val 17143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8404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Sensors: prompts, documents, history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5257800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Deliverable: one PEAS table and one risk caused by a poor performance measure.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environments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environments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44752"/>
            <a:ext cx="103327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environment type largely determines the agent design.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1005840" y="2743200"/>
            <a:ext cx="28346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Observable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0" y="2743200"/>
            <a:ext cx="28346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Deterministic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38160" y="2743200"/>
            <a:ext cx="28346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Episodic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3749040"/>
            <a:ext cx="28346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Static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0" y="3749040"/>
            <a:ext cx="28346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Discrete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38160" y="3749040"/>
            <a:ext cx="28346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Single-agent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environments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and determinism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9164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7830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Fully observable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The agent can access all relevant state information.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0" y="169164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7830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Partially observable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The agent must remember or infer hidden information.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365760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7490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Deterministic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Each action has one guaranteed outcome.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0" y="365760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37490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Stochastic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Actions may have uncertain outcomes.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environments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structure and dynamics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60020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6916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Episodic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Each decision is independent from previous decisions.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37960" y="160020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6916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Sequential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Current actions affect future decisions.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365760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7490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Static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The environment does not change while the agent deliberates.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365760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7490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Dynamic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The environment can change during deliberation.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environments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Discrete, continuous, single-agent, multi-agent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69164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7830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Discrete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Finite states, actions or percepts.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7830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Continuous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Variables or actions take real values.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370332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7947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Single-agent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No competing or cooperating agents.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370332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7947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Multi-agent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Other agents affect outcomes.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environments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 comparison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1581912" cy="50292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1463040"/>
            <a:ext cx="1581912" cy="50292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1463040"/>
            <a:ext cx="1581912" cy="50292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1463040"/>
            <a:ext cx="1581912" cy="50292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1463040"/>
            <a:ext cx="1581912" cy="50292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1463040"/>
            <a:ext cx="1581912" cy="50292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04120" y="1463040"/>
            <a:ext cx="1581912" cy="50292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121408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2121408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2121408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121408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121408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2121408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04120" y="2121408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2779776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2779776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03320" y="2779776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Stoch.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2779776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2779776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2779776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04120" y="2779776"/>
            <a:ext cx="15819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3438144"/>
            <a:ext cx="1581912" cy="50292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Loopover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03120" y="3438144"/>
            <a:ext cx="1581912" cy="50292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03320" y="3438144"/>
            <a:ext cx="1581912" cy="50292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3438144"/>
            <a:ext cx="1581912" cy="50292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3438144"/>
            <a:ext cx="1581912" cy="50292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03920" y="3438144"/>
            <a:ext cx="1581912" cy="50292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104120" y="3438144"/>
            <a:ext cx="1581912" cy="502920"/>
          </a:xfrm>
          <a:prstGeom prst="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" y="4892040"/>
            <a:ext cx="1060704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Loopover is a clean state-space search environment: fully observable, deterministic, sequential, static, discrete and single-agent.</a:t>
            </a:r>
            <a:endParaRPr lang="en-US" sz="2100" dirty="0"/>
          </a:p>
        </p:txBody>
      </p:sp>
      <p:sp>
        <p:nvSpPr>
          <p:cNvPr id="37" name="Text 34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architectures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297680"/>
            <a:ext cx="1874520" cy="594360"/>
          </a:xfrm>
          <a:prstGeom prst="roundRect">
            <a:avLst>
              <a:gd name="adj" fmla="val 18462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389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Simple reflex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88920" y="4590288"/>
            <a:ext cx="210312" cy="-4572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3703320"/>
            <a:ext cx="1874520" cy="594360"/>
          </a:xfrm>
          <a:prstGeom prst="roundRect">
            <a:avLst>
              <a:gd name="adj" fmla="val 18462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794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Model-based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37760" y="3995928"/>
            <a:ext cx="210312" cy="-45720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12080" y="3108960"/>
            <a:ext cx="1874520" cy="594360"/>
          </a:xfrm>
          <a:prstGeom prst="roundRect">
            <a:avLst>
              <a:gd name="adj" fmla="val 18462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3200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Goal-based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86600" y="3401568"/>
            <a:ext cx="210312" cy="-45720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2514600"/>
            <a:ext cx="1874520" cy="594360"/>
          </a:xfrm>
          <a:prstGeom prst="roundRect">
            <a:avLst>
              <a:gd name="adj" fmla="val 18462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2606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Utility-based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235440" y="2807208"/>
            <a:ext cx="210312" cy="-45720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09760" y="1920240"/>
            <a:ext cx="1874520" cy="594360"/>
          </a:xfrm>
          <a:prstGeom prst="roundRect">
            <a:avLst>
              <a:gd name="adj" fmla="val 18462"/>
            </a:avLst>
          </a:prstGeom>
          <a:solidFill>
            <a:srgbClr val="E0F2FE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46920" y="2011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Learning agent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Increasing generality and flexibility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reflex agents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 → Action rules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234440" y="2743200"/>
            <a:ext cx="4480560" cy="777240"/>
          </a:xfrm>
          <a:prstGeom prst="roundRect">
            <a:avLst>
              <a:gd name="adj" fmla="val 14118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834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IF current percept matches condition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4480560" cy="777240"/>
          </a:xfrm>
          <a:prstGeom prst="roundRect">
            <a:avLst>
              <a:gd name="adj" fmla="val 14118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834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THEN execute associated action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15000" y="3127248"/>
            <a:ext cx="6858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143000" y="4846320"/>
            <a:ext cx="9921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and simple, but weak when the current percept is not enough.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Model-based agents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71600"/>
            <a:ext cx="102412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state summarizes what the agent cannot currently observe.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234440" y="2743200"/>
            <a:ext cx="2011680" cy="6858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Old state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703320" y="2743200"/>
            <a:ext cx="2011680" cy="6858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New percept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720840" y="274320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Updated state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46920" y="2743200"/>
            <a:ext cx="1508760" cy="6858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0" y="2834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Action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273552" y="3081528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42432" y="3081528"/>
            <a:ext cx="8869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25712" y="3081528"/>
            <a:ext cx="4297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0584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partial observability: the agent maintains a model of how the world changes.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Goal-based agents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011680"/>
            <a:ext cx="2468880" cy="713232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1031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Current state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97280" y="3337560"/>
            <a:ext cx="2468880" cy="713232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4290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Goal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00600" y="265176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0F172A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Planning / Search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78240" y="265176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743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Action sequence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11880" y="2377440"/>
            <a:ext cx="1097280" cy="53035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11880" y="3657600"/>
            <a:ext cx="1097280" cy="-41148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3090672"/>
            <a:ext cx="105156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05840" y="48920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bridge to Unit 2: problem solving and search.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30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Utility-based agents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44752"/>
            <a:ext cx="102412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 say whether a state is acceptable. Utility says how good it is.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280160" y="2788920"/>
            <a:ext cx="3840480" cy="96012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880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Goal-based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Reach destination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040880" y="2788920"/>
            <a:ext cx="3840480" cy="96012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2880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Utility-based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Reach destination safely, quickly and comfortably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97280" y="4983480"/>
            <a:ext cx="9966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 functions allow trade-offs between competing preferences.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31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agents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0" y="160020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691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Performance element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chooses actions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80560" y="306324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154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Learning element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improves behaviour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88720" y="3063240"/>
            <a:ext cx="2377440" cy="777240"/>
          </a:xfrm>
          <a:prstGeom prst="roundRect">
            <a:avLst>
              <a:gd name="adj" fmla="val 14118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Critic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evaluates feedback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549640" y="306324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3154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 generator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encourages exploration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2404872"/>
            <a:ext cx="0" cy="566928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11880" y="3456432"/>
            <a:ext cx="77724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3456432"/>
            <a:ext cx="82296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05840" y="507492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agents improve from experience. Unit 6 will study reinforcement learning.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32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 AI agents and LLMs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28800"/>
            <a:ext cx="1463040" cy="594360"/>
          </a:xfrm>
          <a:prstGeom prst="roundRect">
            <a:avLst>
              <a:gd name="adj" fmla="val 18462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Goal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71800" y="1828800"/>
            <a:ext cx="2057400" cy="594360"/>
          </a:xfrm>
          <a:prstGeom prst="roundRect">
            <a:avLst>
              <a:gd name="adj" fmla="val 18462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920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LLM / model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23560" y="1828800"/>
            <a:ext cx="1645920" cy="594360"/>
          </a:xfrm>
          <a:prstGeom prst="roundRect">
            <a:avLst>
              <a:gd name="adj" fmla="val 18462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Tools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863840" y="1828800"/>
            <a:ext cx="2468880" cy="594360"/>
          </a:xfrm>
          <a:prstGeom prst="roundRect">
            <a:avLst>
              <a:gd name="adj" fmla="val 18462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Environment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514600" y="2121408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212140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0" y="212140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2487168"/>
            <a:ext cx="-1645920" cy="123444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143000" y="4389120"/>
            <a:ext cx="9966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language model is not automatically an agent. It becomes part of an agent when it selects actions, uses tools and observes outcomes.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33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connection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study: Loopover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/mnt/data/unna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572768"/>
            <a:ext cx="4389120" cy="2286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60020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Fully observable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233172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423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Deterministic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14400" y="306324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154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Sequential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703320" y="160020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Static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703320" y="233172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E0F2FE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0" y="2423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Discrete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703320" y="3063240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0" y="3154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Single-agent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60120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Therefore, Loopover is a natural state-space search problem.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34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to Unit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search comes next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48840"/>
            <a:ext cx="2057400" cy="73152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40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Initial state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703320" y="2148840"/>
            <a:ext cx="1874520" cy="731520"/>
          </a:xfrm>
          <a:prstGeom prst="roundRect">
            <a:avLst>
              <a:gd name="adj" fmla="val 15000"/>
            </a:avLst>
          </a:prstGeom>
          <a:solidFill>
            <a:srgbClr val="FFEDD5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240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Actions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2514600" cy="73152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1397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240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Successor states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372600" y="214884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0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Goal state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108960" y="251460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23560" y="251460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78240" y="251460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4400" y="4343400"/>
            <a:ext cx="10332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is simulated exploration of a state space to find an action sequence that reaches a goal.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35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activity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 intelligent agent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74520" y="2240280"/>
            <a:ext cx="8595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Choose a domain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74520" y="2807208"/>
            <a:ext cx="8595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PEAS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874520" y="3374136"/>
            <a:ext cx="8595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Classify the environment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74520" y="3941064"/>
            <a:ext cx="8595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Select an agent architecture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874520" y="4507992"/>
            <a:ext cx="8595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Justify what the agent must remember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34440" y="5532120"/>
            <a:ext cx="9784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domains: autonomous delivery robot · cybersecurity agent · university tutor · healthcare monitoring agent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36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Mini-check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does f : P* → A represent?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304288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is rationality not the same as success?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99816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PEAS stand for?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895344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Classify Loopover as a task environment.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690872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the difference between goal-based and utility-based agents?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164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Intelligent Systems · ESI Ciudad Real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44475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35331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be studied as the design of rational agents.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05840" y="215798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066544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perceive, decide and act in task environments.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005840" y="2871216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779776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Rationality depends on performance, knowledge, actions and percepts.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005840" y="3584448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3493008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PEAS and environment classification guide agent design.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005840" y="429768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4206240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Goal-based agents naturally lead to state-space search.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3017520" y="5577840"/>
            <a:ext cx="6126480" cy="640080"/>
          </a:xfrm>
          <a:prstGeom prst="roundRect">
            <a:avLst>
              <a:gd name="adj" fmla="val 17143"/>
            </a:avLst>
          </a:prstGeom>
          <a:solidFill>
            <a:srgbClr val="0F172A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5669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Next unit: Problem solving and search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292840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Universidad de Castilla-La Mancha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1 - Introduction to Artificial Intelligence and Intelligent Agents</dc:title>
  <dc:subject>Intelligent Systems - Unit 1</dc:subject>
  <dc:creator>Rubén Juárez Cádiz</dc:creator>
  <cp:lastModifiedBy>Rubén Juárez Cádiz</cp:lastModifiedBy>
  <cp:revision>1</cp:revision>
  <dcterms:created xsi:type="dcterms:W3CDTF">2026-09-23T11:40:18Z</dcterms:created>
  <dcterms:modified xsi:type="dcterms:W3CDTF">2026-09-23T11:40:18Z</dcterms:modified>
</cp:coreProperties>
</file>