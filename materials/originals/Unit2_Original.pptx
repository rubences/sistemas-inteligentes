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puente desde el Tema 1: un agente basado en objetivos necesita encontrar una secuencia de acciones.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resultado central no es memorizar algoritmos sino saber modelar y escoger la estrategia adecuada.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reproduce el orden conceptual del material base de Unit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el agente de resolución de problemas: formular objetivo, formular problema, buscar solución y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offline vs online. El tema se centra sobre todo en búsqueda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el mapa de Rumanía como ejemplo clásico de AIMA. Aquí no importa el mapa exacto, sino la estructura de estados y acciones.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más importante del bloque de modelado. Hacer que los estudiantes memoricen estos cuatro elementos.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en Rumanía ignoramos semáforos, curvas, paradas, cansancio, etc.; usamos ciudades y carreteras.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los demás tipos sólo para ubicar el alcance del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para practicar formulación: estados, acciones, test objetivo y coste.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con Loopover: tablero, movimientos, objetivo, coste unitario.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Basado en el ejercicio CurrencyExchange. Sirve para mostrar cómo una formulación puede tener variables y dominios.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en clase como ejercicio de modelado. No resolver todo el árbol salvo si hay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con el laboratorio. Unit 2 da sentido a Estado/Sucesor/Nodo/Frontera.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claramente estado físico/configuración vs nodo de búsqueda.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distinción evita muchos errores de implementación en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Frontera con queue/stack/priority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memorizar código exacto, sino la estructura: seleccionar, probar, expandir.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Unit2 usa búsqueda en grafo porque controla visitados.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operación se implementará claramente en el laboratorio cuando se haga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da sentido al conjunto de visitados.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Frontera como estructura abstracta. La estrategia cambia la política de extracción e inserción.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que la comparación tiene cuatro criterios, no sólo “encuentra solución”.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b, d y m desde el principio; luego aparecen en propiedades de BFS/DFS/IDS.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que Unit 3 añade información heurística y por eso se llama informed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en la pizarra un árbol por niveles.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indiquen cuál se expande después en cada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BFS suele fallar por memoria antes que por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UCS con Dijkstra si los alumnos conocen grafos.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abusar de fórmulas si la clase aún no está cómoda; centrarse en orden por coste acumulado.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con un árbol que DFS puede irse por una rama mala.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 no es “malo”; es útil cuando la memoria es limitada y hay control de profundidad/visitados.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DLS es DFS con cinturón de seguridad. El problema es elegir bien el límite.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repetir niveles superiores no es tan caro en árboles con factor de ramificación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repaso clave para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como checklist para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distinguir profundidad de coste.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Basado en el PDF CurrencyExchange. Hacerlo en grupos pequeños.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dejar que salten a la solución sin formular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nombres de clases reales del esqueleto para que el estudiante vea continuidad teoría-lab.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muy útil antes de prácticas y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 final del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cierre o cuestionario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pregunta: ¿qué información adicional usaríamos para ordenar los estados de Loopover?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594360"/>
            <a:ext cx="1828800" cy="1828800"/>
          </a:xfrm>
          <a:prstGeom prst="ellipse">
            <a:avLst/>
          </a:prstGeom>
          <a:solidFill>
            <a:srgbClr val="7C2D12">
              <a:alpha val="82000"/>
            </a:srgbClr>
          </a:solidFill>
          <a:ln w="12700">
            <a:solidFill>
              <a:srgbClr val="7C2D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4069080"/>
            <a:ext cx="1143000" cy="1143000"/>
          </a:xfrm>
          <a:prstGeom prst="ellipse">
            <a:avLst/>
          </a:prstGeom>
          <a:solidFill>
            <a:srgbClr val="164E63">
              <a:alpha val="85000"/>
            </a:srgbClr>
          </a:solidFill>
          <a:ln w="12700">
            <a:solidFill>
              <a:srgbClr val="164E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58368"/>
            <a:ext cx="2487168" cy="384048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8580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INTELLIGENT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BA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Solving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Search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49808" y="5916168"/>
            <a:ext cx="76809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Science Degree · Escuela Superior de Informática · UCLM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6291072"/>
            <a:ext cx="3931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Rubén Juárez Cádiz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713232" cy="329184"/>
          </a:xfrm>
          <a:prstGeom prst="roundRect">
            <a:avLst>
              <a:gd name="adj" fmla="val 19444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49047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Formulate a real task as a state-space search problem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713232" cy="329184"/>
          </a:xfrm>
          <a:prstGeom prst="roundRect">
            <a:avLst>
              <a:gd name="adj" fmla="val 19444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679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63347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states, nodes, actions, successors and path cost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713232" cy="329184"/>
          </a:xfrm>
          <a:prstGeom prst="roundRect">
            <a:avLst>
              <a:gd name="adj" fmla="val 19444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822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77647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tree search, graph search, frontier and explored set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309360" y="1508760"/>
            <a:ext cx="713232" cy="329184"/>
          </a:xfrm>
          <a:prstGeom prst="roundRect">
            <a:avLst>
              <a:gd name="adj" fmla="val 19444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149047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strategies by completeness, optimality, time and space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309360" y="2651760"/>
            <a:ext cx="713232" cy="329184"/>
          </a:xfrm>
          <a:prstGeom prst="roundRect">
            <a:avLst>
              <a:gd name="adj" fmla="val 19444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679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263347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BFS, UCS, DFS, DLS and IDS to small problems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309360" y="3794760"/>
            <a:ext cx="713232" cy="329184"/>
          </a:xfrm>
          <a:prstGeom prst="roundRect">
            <a:avLst>
              <a:gd name="adj" fmla="val 19444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822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377647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theory with the Loopover laboratory project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2 is the bridge between intelligent-agent theory and the implementation of search-based solvers.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this unit is organized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508760"/>
            <a:ext cx="566928" cy="475488"/>
          </a:xfrm>
          <a:prstGeom prst="roundRect">
            <a:avLst>
              <a:gd name="adj" fmla="val 21154"/>
            </a:avLst>
          </a:prstGeom>
          <a:solidFill>
            <a:srgbClr val="F97316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5819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1499616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Problem-solving agents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566928" cy="475488"/>
          </a:xfrm>
          <a:prstGeom prst="roundRect">
            <a:avLst>
              <a:gd name="adj" fmla="val 21154"/>
            </a:avLst>
          </a:prstGeom>
          <a:solidFill>
            <a:srgbClr val="F97316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591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276856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types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05840" y="3063240"/>
            <a:ext cx="566928" cy="475488"/>
          </a:xfrm>
          <a:prstGeom prst="roundRect">
            <a:avLst>
              <a:gd name="adj" fmla="val 21154"/>
            </a:avLst>
          </a:prstGeom>
          <a:solidFill>
            <a:srgbClr val="6D28D9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1363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054096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formulation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05840" y="3840480"/>
            <a:ext cx="566928" cy="475488"/>
          </a:xfrm>
          <a:prstGeom prst="roundRect">
            <a:avLst>
              <a:gd name="adj" fmla="val 21154"/>
            </a:avLst>
          </a:prstGeom>
          <a:solidFill>
            <a:srgbClr val="6D28D9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9136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3831336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problems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05840" y="4617720"/>
            <a:ext cx="566928" cy="475488"/>
          </a:xfrm>
          <a:prstGeom prst="roundRect">
            <a:avLst>
              <a:gd name="adj" fmla="val 21154"/>
            </a:avLst>
          </a:prstGeom>
          <a:solidFill>
            <a:srgbClr val="16A34A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6908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83080" y="4608576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search algorithms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0584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UCLM material follows this exact progression: from agents that plan ahead to concrete uninformed search strategies.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Problem-solving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agents need search?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2057400" cy="731520"/>
          </a:xfrm>
          <a:prstGeom prst="roundRect">
            <a:avLst>
              <a:gd name="adj" fmla="val 1375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39112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Current state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1965960"/>
            <a:ext cx="1600200" cy="731520"/>
          </a:xfrm>
          <a:prstGeom prst="roundRect">
            <a:avLst>
              <a:gd name="adj" fmla="val 1375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039112"/>
            <a:ext cx="1380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Goal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965960"/>
            <a:ext cx="2606040" cy="731520"/>
          </a:xfrm>
          <a:prstGeom prst="roundRect">
            <a:avLst>
              <a:gd name="adj" fmla="val 1375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4728" y="203911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formulation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0" y="1965960"/>
            <a:ext cx="1737360" cy="731520"/>
          </a:xfrm>
          <a:prstGeom prst="roundRect">
            <a:avLst>
              <a:gd name="adj" fmla="val 1375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0848" y="203911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Search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0" y="2331720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2331720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2331720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4251960"/>
            <a:ext cx="10241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is simulated exploration of possible futures before acting.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Problem-solving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problem-solving agent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1645920" cy="777240"/>
          </a:xfrm>
          <a:prstGeom prst="roundRect">
            <a:avLst>
              <a:gd name="adj" fmla="val 12941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221992"/>
            <a:ext cx="1426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Update state from percept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88336" y="2542032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2148840"/>
            <a:ext cx="1645920" cy="777240"/>
          </a:xfrm>
          <a:prstGeom prst="roundRect">
            <a:avLst>
              <a:gd name="adj" fmla="val 12941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2221992"/>
            <a:ext cx="1426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Formulate goal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37176" y="2542032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2148840"/>
            <a:ext cx="1645920" cy="777240"/>
          </a:xfrm>
          <a:prstGeom prst="roundRect">
            <a:avLst>
              <a:gd name="adj" fmla="val 12941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2221992"/>
            <a:ext cx="1426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Formulate problem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86016" y="2542032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148840"/>
            <a:ext cx="1645920" cy="777240"/>
          </a:xfrm>
          <a:prstGeom prst="roundRect">
            <a:avLst>
              <a:gd name="adj" fmla="val 12941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2221992"/>
            <a:ext cx="1426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Search for a solution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34856" y="2542032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2148840"/>
            <a:ext cx="1645920" cy="777240"/>
          </a:xfrm>
          <a:prstGeom prst="roundRect">
            <a:avLst>
              <a:gd name="adj" fmla="val 12941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0928" y="2221992"/>
            <a:ext cx="1426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Execute recommended 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search: the agent computes a sequence of actions before executing them.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14400" y="4773168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search: the agent acts while still learning the environment.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Problem-solving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Motivating example: route finding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91640"/>
            <a:ext cx="1920240" cy="777240"/>
          </a:xfrm>
          <a:prstGeom prst="roundRect">
            <a:avLst>
              <a:gd name="adj" fmla="val 12941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764792"/>
            <a:ext cx="17007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Initial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Arad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1691640"/>
            <a:ext cx="1965960" cy="777240"/>
          </a:xfrm>
          <a:prstGeom prst="roundRect">
            <a:avLst>
              <a:gd name="adj" fmla="val 12941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53728" y="176479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Goal test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At Bucharest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1800" y="2084832"/>
            <a:ext cx="608076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0552" y="4114800"/>
            <a:ext cx="1874520" cy="-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005072" y="3429000"/>
            <a:ext cx="21945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199632" y="3429000"/>
            <a:ext cx="29260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005072" y="3429000"/>
            <a:ext cx="114300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148072" y="443484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976872" y="4434840"/>
            <a:ext cx="2148840" cy="-3657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130552" y="4114800"/>
            <a:ext cx="1005840" cy="96012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130552" y="4114800"/>
            <a:ext cx="731520" cy="-10058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828800" y="393192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08115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03320" y="324612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39535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Sibiu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97880" y="324612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39535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Fagaras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425196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40119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Rimnicu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425196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40119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Pitesti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23960" y="3886200"/>
            <a:ext cx="621792" cy="621792"/>
          </a:xfrm>
          <a:prstGeom prst="ellipse">
            <a:avLst/>
          </a:prstGeom>
          <a:solidFill>
            <a:srgbClr val="DCFCE7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403543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Bucharest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489204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504127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Timisoara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0" y="292608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3075310"/>
            <a:ext cx="621792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Zerind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5840" y="5715000"/>
            <a:ext cx="101498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solution is a sequence of actions/cities, e.g. Arad → Sibiu → Făgăraș → Bucharest.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formulation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Single-state problem formulation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72768"/>
            <a:ext cx="2423160" cy="658368"/>
          </a:xfrm>
          <a:prstGeom prst="roundRect">
            <a:avLst>
              <a:gd name="adj" fmla="val 1527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64592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Initial state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618488"/>
            <a:ext cx="2560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agent starts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2423160" cy="658368"/>
          </a:xfrm>
          <a:prstGeom prst="roundRect">
            <a:avLst>
              <a:gd name="adj" fmla="val 15278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06324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Actions / Successor function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035808"/>
            <a:ext cx="2560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moves and resulting states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572768"/>
            <a:ext cx="2423160" cy="658368"/>
          </a:xfrm>
          <a:prstGeom prst="roundRect">
            <a:avLst>
              <a:gd name="adj" fmla="val 15278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64592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Goal 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98280" y="1618488"/>
            <a:ext cx="2560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detect success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2990088"/>
            <a:ext cx="2423160" cy="658368"/>
          </a:xfrm>
          <a:prstGeom prst="roundRect">
            <a:avLst>
              <a:gd name="adj" fmla="val 1527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06324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Path cost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98280" y="3035808"/>
            <a:ext cx="2560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expensive a solution 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212080"/>
            <a:ext cx="9966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solution is an action sequence that leads from the initial state to a goal state.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formulation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a useful abstraction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2560320" cy="914400"/>
          </a:xfrm>
          <a:prstGeom prst="roundRect">
            <a:avLst>
              <a:gd name="adj" fmla="val 11000"/>
            </a:avLst>
          </a:prstGeom>
          <a:solidFill>
            <a:srgbClr val="F1F5F9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93392"/>
            <a:ext cx="2340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Real world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very complex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2743200" cy="914400"/>
          </a:xfrm>
          <a:prstGeom prst="roundRect">
            <a:avLst>
              <a:gd name="adj" fmla="val 110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993392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Abstract state space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manageable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23960" y="1920240"/>
            <a:ext cx="2468880" cy="914400"/>
          </a:xfrm>
          <a:prstGeom prst="roundRect">
            <a:avLst>
              <a:gd name="adj" fmla="val 11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3688" y="1993392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Search problem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solvable 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2377440"/>
            <a:ext cx="1051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237744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54480" y="40142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886200"/>
            <a:ext cx="8549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irrelevant details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54480" y="448970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4361688"/>
            <a:ext cx="8549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validity of actions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54480" y="496519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4837176"/>
            <a:ext cx="8549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successor generation feasible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54480" y="544068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5312664"/>
            <a:ext cx="85496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goal and cost meaningful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types and state spaces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08760"/>
            <a:ext cx="1828800" cy="612648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54480"/>
            <a:ext cx="1755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508760"/>
            <a:ext cx="4206240" cy="612648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8336" y="1554480"/>
            <a:ext cx="4133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508760"/>
            <a:ext cx="4480560" cy="612648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4576" y="1554480"/>
            <a:ext cx="4407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121408"/>
            <a:ext cx="182880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2157984"/>
            <a:ext cx="17556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Single-state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2121408"/>
            <a:ext cx="420624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2157984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observable + deterministic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2121408"/>
            <a:ext cx="448056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2157984"/>
            <a:ext cx="4407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of 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2734056"/>
            <a:ext cx="1828800" cy="6126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770632"/>
            <a:ext cx="17556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Conformant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2734056"/>
            <a:ext cx="4206240" cy="6126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2770632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observations during execution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2734056"/>
            <a:ext cx="4480560" cy="6126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2770632"/>
            <a:ext cx="4407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that works for all possible states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3346704"/>
            <a:ext cx="182880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3383280"/>
            <a:ext cx="17556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51760" y="3346704"/>
            <a:ext cx="420624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3383280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observability or nondeterminism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3346704"/>
            <a:ext cx="448056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3383280"/>
            <a:ext cx="4407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plan / policy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3959352"/>
            <a:ext cx="1828800" cy="6126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3995928"/>
            <a:ext cx="17556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51760" y="3959352"/>
            <a:ext cx="4206240" cy="6126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3995928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state space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0" y="3959352"/>
            <a:ext cx="4480560" cy="6126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3995928"/>
            <a:ext cx="4407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while learning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" y="521208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2 focuses mainly on single-state problems: deterministic, fully observable and search-friendly.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problems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vacuum world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54480"/>
            <a:ext cx="1828800" cy="548640"/>
          </a:xfrm>
          <a:prstGeom prst="roundRect">
            <a:avLst>
              <a:gd name="adj" fmla="val 1833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276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1609344"/>
            <a:ext cx="5029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location + dirt status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1828800" cy="548640"/>
          </a:xfrm>
          <a:prstGeom prst="roundRect">
            <a:avLst>
              <a:gd name="adj" fmla="val 18333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40487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386584"/>
            <a:ext cx="5029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· Right · Suck · NoOp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1828800" cy="548640"/>
          </a:xfrm>
          <a:prstGeom prst="roundRect">
            <a:avLst>
              <a:gd name="adj" fmla="val 18333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18211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Goal test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163824"/>
            <a:ext cx="5029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dirt remains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1828800" cy="548640"/>
          </a:xfrm>
          <a:prstGeom prst="roundRect">
            <a:avLst>
              <a:gd name="adj" fmla="val 18333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95935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Path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941064"/>
            <a:ext cx="5029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per action, optionally 0 for NoOp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95360" y="2148840"/>
            <a:ext cx="219456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2148840"/>
            <a:ext cx="0" cy="114300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331720"/>
            <a:ext cx="274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21240" y="2331720"/>
            <a:ext cx="274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15400" y="2743200"/>
            <a:ext cx="228600" cy="2286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2743200"/>
            <a:ext cx="228600" cy="2286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problems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8-puzzle formulation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00200" y="1828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1828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2331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5059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00200" y="2331720"/>
            <a:ext cx="50292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45059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3120" y="2331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45059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28346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95351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600200" y="28346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95351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03120" y="28346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95351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1828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86200" y="1828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89120" y="1828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83280" y="2331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45059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86200" y="2331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245059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389120" y="2331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245059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383280" y="28346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95351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886200" y="28346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295351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89120" y="2834640"/>
            <a:ext cx="50292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2953512"/>
            <a:ext cx="502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852160" y="1554480"/>
            <a:ext cx="1920240" cy="438912"/>
          </a:xfrm>
          <a:prstGeom prst="roundRect">
            <a:avLst>
              <a:gd name="adj" fmla="val 2291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61888" y="162763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States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010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 of tiles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852160" y="2267712"/>
            <a:ext cx="1920240" cy="438912"/>
          </a:xfrm>
          <a:prstGeom prst="roundRect">
            <a:avLst>
              <a:gd name="adj" fmla="val 2291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61888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Actions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001000" y="2295144"/>
            <a:ext cx="2834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blank up/down/left/right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852160" y="2980944"/>
            <a:ext cx="1920240" cy="438912"/>
          </a:xfrm>
          <a:prstGeom prst="roundRect">
            <a:avLst>
              <a:gd name="adj" fmla="val 22917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61888" y="30540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Goal test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001000" y="3008376"/>
            <a:ext cx="2834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 target board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852160" y="3694176"/>
            <a:ext cx="1920240" cy="438912"/>
          </a:xfrm>
          <a:prstGeom prst="roundRect">
            <a:avLst>
              <a:gd name="adj" fmla="val 22917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61888" y="37673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Path cost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01000" y="3721608"/>
            <a:ext cx="2834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per move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1560" y="5257800"/>
            <a:ext cx="101498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very small puzzles can generate large search spaces.</a:t>
            </a:r>
            <a:endParaRPr lang="en-US" sz="2100" dirty="0"/>
          </a:p>
        </p:txBody>
      </p:sp>
      <p:sp>
        <p:nvSpPr>
          <p:cNvPr id="59" name="Text 5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problems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currency exchange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81328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obtain a change amount Y ∈ {0,…,99} using limited coins.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005840" y="2331720"/>
            <a:ext cx="1188720" cy="475488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37744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331720"/>
            <a:ext cx="1371600" cy="475488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237744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1828800" cy="475488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3774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807208"/>
            <a:ext cx="1188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84378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2807208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284378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2807208"/>
            <a:ext cx="18288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284378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sum_50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3282696"/>
            <a:ext cx="118872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31927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3282696"/>
            <a:ext cx="13716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31136" y="33192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66160" y="3282696"/>
            <a:ext cx="18288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331927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sum_10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" y="3758184"/>
            <a:ext cx="11887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379476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94560" y="3758184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37947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66160" y="3758184"/>
            <a:ext cx="18288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79476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sum_5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" y="4233672"/>
            <a:ext cx="118872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2702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94560" y="4233672"/>
            <a:ext cx="13716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31136" y="42702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66160" y="4233672"/>
            <a:ext cx="18288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42702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sum_1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2514600"/>
            <a:ext cx="4754880" cy="713232"/>
          </a:xfrm>
          <a:prstGeom prst="roundRect">
            <a:avLst>
              <a:gd name="adj" fmla="val 1410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587752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State = ((n50,n10,n5,n1), pending)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035040" y="3566160"/>
            <a:ext cx="4754880" cy="640080"/>
          </a:xfrm>
          <a:prstGeom prst="roundRect">
            <a:avLst>
              <a:gd name="adj" fmla="val 15714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639312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Goal test: pending = 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035040" y="4480560"/>
            <a:ext cx="4754880" cy="640080"/>
          </a:xfrm>
          <a:prstGeom prst="roundRect">
            <a:avLst>
              <a:gd name="adj" fmla="val 15714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4553712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Cost: 1 per selected coin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problems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missionaries and cannibals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44752"/>
            <a:ext cx="102870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move everyone across the river without leaving missionaries outnumbered by cannibals on either bank.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2514600"/>
            <a:ext cx="1463040" cy="530352"/>
          </a:xfrm>
          <a:prstGeom prst="roundRect">
            <a:avLst>
              <a:gd name="adj" fmla="val 18966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58775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L&lt;M,C,B&gt;  R&lt;M,C,B&gt;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1463040" cy="530352"/>
          </a:xfrm>
          <a:prstGeom prst="roundRect">
            <a:avLst>
              <a:gd name="adj" fmla="val 18966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107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Initial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L&lt;3,3,1&gt;  R&lt;0,0,0&gt;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4160520"/>
            <a:ext cx="1463040" cy="530352"/>
          </a:xfrm>
          <a:prstGeom prst="roundRect">
            <a:avLst>
              <a:gd name="adj" fmla="val 18966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2336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Goal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L&lt;0,0,0&gt;  R&lt;3,3,1&gt;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32320" y="2926080"/>
            <a:ext cx="3840480" cy="1143000"/>
          </a:xfrm>
          <a:prstGeom prst="roundRect">
            <a:avLst>
              <a:gd name="adj" fmla="val 88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2999232"/>
            <a:ext cx="36210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Valid actions move 1 or 2 people; illegal states violate safety constraints.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connection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case: Loopover as search problem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417320"/>
            <a:ext cx="1508760" cy="438912"/>
          </a:xfrm>
          <a:prstGeom prst="roundRect">
            <a:avLst>
              <a:gd name="adj" fmla="val 2291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49047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444752"/>
            <a:ext cx="77724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4×4 board configuration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185416"/>
            <a:ext cx="1508760" cy="438912"/>
          </a:xfrm>
          <a:prstGeom prst="roundRect">
            <a:avLst>
              <a:gd name="adj" fmla="val 2291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5856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212848"/>
            <a:ext cx="77724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+ column geared movement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2953512"/>
            <a:ext cx="1508760" cy="438912"/>
          </a:xfrm>
          <a:prstGeom prst="roundRect">
            <a:avLst>
              <a:gd name="adj" fmla="val 22917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026664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Successor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980944"/>
            <a:ext cx="77724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board after applying one action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60120" y="3721608"/>
            <a:ext cx="1508760" cy="438912"/>
          </a:xfrm>
          <a:prstGeom prst="roundRect">
            <a:avLst>
              <a:gd name="adj" fmla="val 22917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79476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Goal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749040"/>
            <a:ext cx="77724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board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60120" y="4489704"/>
            <a:ext cx="1508760" cy="438912"/>
          </a:xfrm>
          <a:prstGeom prst="roundRect">
            <a:avLst>
              <a:gd name="adj" fmla="val 22917"/>
            </a:avLst>
          </a:prstGeom>
          <a:solidFill>
            <a:srgbClr val="F1F5F9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56285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4517136"/>
            <a:ext cx="77724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per move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54864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 implements this abstraction as Java classes: Estado, Sucesor, Nodo, Frontera and search strategies.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State-space graph vs. search tree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834640"/>
            <a:ext cx="914400" cy="-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28800" y="2834640"/>
            <a:ext cx="91440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43200" y="2194560"/>
            <a:ext cx="91440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743200" y="3474720"/>
            <a:ext cx="914400" cy="-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508760" y="2606040"/>
            <a:ext cx="502920" cy="5029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726741"/>
            <a:ext cx="5029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1965960"/>
            <a:ext cx="502920" cy="5029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086661"/>
            <a:ext cx="5029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246120"/>
            <a:ext cx="502920" cy="5029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366821"/>
            <a:ext cx="5029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2606040"/>
            <a:ext cx="502920" cy="5029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726741"/>
            <a:ext cx="5029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2148840"/>
            <a:ext cx="-82296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315200" y="2148840"/>
            <a:ext cx="86868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492240" y="2834640"/>
            <a:ext cx="-59436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492240" y="2834640"/>
            <a:ext cx="59436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183880" y="2834640"/>
            <a:ext cx="-59436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183880" y="2834640"/>
            <a:ext cx="59436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086600" y="19202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029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6060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7157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26060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27157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2918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2918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60920" y="32918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49640" y="32918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State-space graph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56692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repeated state in the graph may appear many times in the search tree.</a:t>
            </a:r>
            <a:endParaRPr lang="en-US" sz="1900" dirty="0"/>
          </a:p>
        </p:txBody>
      </p:sp>
      <p:sp>
        <p:nvSpPr>
          <p:cNvPr id="43" name="Text 40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Implementation: states vs. nodes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2286000" cy="777240"/>
          </a:xfrm>
          <a:prstGeom prst="roundRect">
            <a:avLst>
              <a:gd name="adj" fmla="val 12941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01952"/>
            <a:ext cx="20665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State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representation of a physical configuration.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2286000" cy="777240"/>
          </a:xfrm>
          <a:prstGeom prst="roundRect">
            <a:avLst>
              <a:gd name="adj" fmla="val 12941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901952"/>
            <a:ext cx="20665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Node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9443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816352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3284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200400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371246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584448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409651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968496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448056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4352544"/>
            <a:ext cx="24231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cost g(n)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0" y="1828800"/>
            <a:ext cx="2286000" cy="777240"/>
          </a:xfrm>
          <a:prstGeom prst="roundRect">
            <a:avLst>
              <a:gd name="adj" fmla="val 12941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1901952"/>
            <a:ext cx="20665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Problem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49640" y="29443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816352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49640" y="33284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200400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successor function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49640" y="371246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584448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49640" y="409651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968496"/>
            <a:ext cx="2606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cost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5840" y="53492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 do not have parents, depth or path cost. Nodes do.</a:t>
            </a:r>
            <a:endParaRPr lang="en-US" sz="2300" dirty="0"/>
          </a:p>
        </p:txBody>
      </p:sp>
      <p:sp>
        <p:nvSpPr>
          <p:cNvPr id="34" name="Text 3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Frontier and explored set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200400" cy="960120"/>
          </a:xfrm>
          <a:prstGeom prst="roundRect">
            <a:avLst>
              <a:gd name="adj" fmla="val 10476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01952"/>
            <a:ext cx="29809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Frontier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open nodes waiting for expansion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01000" y="1828800"/>
            <a:ext cx="3200400" cy="960120"/>
          </a:xfrm>
          <a:prstGeom prst="roundRect">
            <a:avLst>
              <a:gd name="adj" fmla="val 10476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0728" y="1901952"/>
            <a:ext cx="29809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Explored set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visited states already processed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26280" y="3246120"/>
            <a:ext cx="3154680" cy="960120"/>
          </a:xfrm>
          <a:prstGeom prst="roundRect">
            <a:avLst>
              <a:gd name="adj" fmla="val 10476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319272"/>
            <a:ext cx="29352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Expansion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remove one node and generate successors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60520" y="2304288"/>
            <a:ext cx="594360" cy="850392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3154680"/>
            <a:ext cx="822960" cy="-850392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" y="5230368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search strategy decides which node leaves the frontier next.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Generic tree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00200"/>
            <a:ext cx="420624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73352"/>
            <a:ext cx="3986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initialize search tree with initial state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1097280" cy="411480"/>
          </a:xfrm>
          <a:prstGeom prst="roundRect">
            <a:avLst>
              <a:gd name="adj" fmla="val 24444"/>
            </a:avLst>
          </a:prstGeom>
          <a:solidFill>
            <a:srgbClr val="0F172A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0487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304288"/>
            <a:ext cx="7132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candidates → failure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2816352"/>
            <a:ext cx="7132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leaf node according to strategy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3328416"/>
            <a:ext cx="7132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node contains goal → return 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 expand node and add successors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search is simple, but it can revisit the same state many times.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08760"/>
            <a:ext cx="4206240" cy="5029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3986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closed / explored ← empty 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4206240" cy="50292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21992"/>
            <a:ext cx="3986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frontier ← initial node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2944368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frontier is empty → failure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447288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node from frontier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950208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goal(state[node]) → return node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453128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state not in explored: add it and insert expanded successors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10058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search controls repeated states and is the practical choice for most finite state-space problems.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Expand operation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468880"/>
            <a:ext cx="2011680" cy="685800"/>
          </a:xfrm>
          <a:prstGeom prst="roundRect">
            <a:avLst>
              <a:gd name="adj" fmla="val 1466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542032"/>
            <a:ext cx="1792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Parent node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68880"/>
            <a:ext cx="2468880" cy="685800"/>
          </a:xfrm>
          <a:prstGeom prst="roundRect">
            <a:avLst>
              <a:gd name="adj" fmla="val 14667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5928" y="2542032"/>
            <a:ext cx="22494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Successor function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468880"/>
            <a:ext cx="2011680" cy="685800"/>
          </a:xfrm>
          <a:prstGeom prst="roundRect">
            <a:avLst>
              <a:gd name="adj" fmla="val 14667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0648" y="2542032"/>
            <a:ext cx="1792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Child nodes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63240" y="2816352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46520" y="2816352"/>
            <a:ext cx="82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" y="4389120"/>
            <a:ext cx="10149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successor: create a node with state, parent, action, depth+1 and updated path cost.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repeated states matter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81328"/>
            <a:ext cx="10241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repeated-state detection, a linear problem can become exponential.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1645920" y="292608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474720" y="2926080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417320" y="269748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8072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8072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269748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8072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2697480"/>
            <a:ext cx="-6400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315200" y="2697480"/>
            <a:ext cx="6400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675120" y="3337560"/>
            <a:ext cx="-4114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675120" y="3337560"/>
            <a:ext cx="4114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955280" y="3337560"/>
            <a:ext cx="-4114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955280" y="3337560"/>
            <a:ext cx="41148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086600" y="246888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56105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46520" y="310896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20113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310896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20113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74904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84121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374904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84121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374904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84121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374904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841212"/>
            <a:ext cx="38404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368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strategies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search strategy?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0241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strategy is defined by the order in which nodes are expanded.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2423160" cy="868680"/>
          </a:xfrm>
          <a:prstGeom prst="roundRect">
            <a:avLst>
              <a:gd name="adj" fmla="val 11579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999232"/>
            <a:ext cx="22037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FIFO queue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Breadth-first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3360" y="2926080"/>
            <a:ext cx="2423160" cy="868680"/>
          </a:xfrm>
          <a:prstGeom prst="roundRect">
            <a:avLst>
              <a:gd name="adj" fmla="val 11579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2999232"/>
            <a:ext cx="22037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Priority queue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Uniform-cost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926080"/>
            <a:ext cx="2423160" cy="868680"/>
          </a:xfrm>
          <a:prstGeom prst="roundRect">
            <a:avLst>
              <a:gd name="adj" fmla="val 11579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2999232"/>
            <a:ext cx="22037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LIFO stack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Depth-first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72600" y="4251960"/>
            <a:ext cx="1828800" cy="685800"/>
          </a:xfrm>
          <a:prstGeom prst="roundRect">
            <a:avLst>
              <a:gd name="adj" fmla="val 1466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2328" y="4325112"/>
            <a:ext cx="16093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Depth limit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DLS / 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graph-search skeleton, different frontier ordering.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strategies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we evaluate strategies?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2560320" cy="594360"/>
          </a:xfrm>
          <a:prstGeom prst="roundRect">
            <a:avLst>
              <a:gd name="adj" fmla="val 16923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64792"/>
            <a:ext cx="2340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Completeness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a solution if one exists?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2560320" cy="594360"/>
          </a:xfrm>
          <a:prstGeom prst="roundRect">
            <a:avLst>
              <a:gd name="adj" fmla="val 1692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90672"/>
            <a:ext cx="2340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Optimality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3063240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the least-cost solution?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2560320" cy="594360"/>
          </a:xfrm>
          <a:prstGeom prst="roundRect">
            <a:avLst>
              <a:gd name="adj" fmla="val 16923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764792"/>
            <a:ext cx="2340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Time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nodes are generated/expanded?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2560320" cy="594360"/>
          </a:xfrm>
          <a:prstGeom prst="roundRect">
            <a:avLst>
              <a:gd name="adj" fmla="val 16923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090672"/>
            <a:ext cx="2340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Space complexity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8280" y="3063240"/>
            <a:ext cx="2468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nodes must be kept in memory?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5349240"/>
            <a:ext cx="10287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universally best strategy: it depends on the problem and the cost structure.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strategies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Complexity notation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554480"/>
            <a:ext cx="621792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15819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536192"/>
            <a:ext cx="4389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branching factor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43000" y="2404872"/>
            <a:ext cx="621792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432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386584"/>
            <a:ext cx="4389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of the shallowest/least-cost solution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43000" y="3255264"/>
            <a:ext cx="621792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9576" y="32826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236976"/>
            <a:ext cx="4389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depth of the state space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621792" cy="347472"/>
          </a:xfrm>
          <a:prstGeom prst="roundRect">
            <a:avLst>
              <a:gd name="adj" fmla="val 18421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5819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C*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1536192"/>
            <a:ext cx="4389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of the optimal solution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0" y="2404872"/>
            <a:ext cx="621792" cy="347472"/>
          </a:xfrm>
          <a:prstGeom prst="roundRect">
            <a:avLst>
              <a:gd name="adj" fmla="val 18421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432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2386584"/>
            <a:ext cx="4389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positive step cost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52578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describe complexity in terms of the structure of the search tree, not only input size.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Uninformed search strategies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10149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strategies use only the information available in the problem definition.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377440" y="2331720"/>
            <a:ext cx="7498080" cy="411480"/>
          </a:xfrm>
          <a:prstGeom prst="roundRect">
            <a:avLst>
              <a:gd name="adj" fmla="val 24444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2404872"/>
            <a:ext cx="7278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Breadth-first search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2944368"/>
            <a:ext cx="7498080" cy="411480"/>
          </a:xfrm>
          <a:prstGeom prst="roundRect">
            <a:avLst>
              <a:gd name="adj" fmla="val 24444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3017520"/>
            <a:ext cx="7278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Uniform-cost search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77440" y="3557016"/>
            <a:ext cx="7498080" cy="411480"/>
          </a:xfrm>
          <a:prstGeom prst="roundRect">
            <a:avLst>
              <a:gd name="adj" fmla="val 24444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3630168"/>
            <a:ext cx="7278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Depth-first search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77440" y="4169664"/>
            <a:ext cx="7498080" cy="411480"/>
          </a:xfrm>
          <a:prstGeom prst="roundRect">
            <a:avLst>
              <a:gd name="adj" fmla="val 24444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4242816"/>
            <a:ext cx="7278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Depth-limited search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77440" y="4782312"/>
            <a:ext cx="7498080" cy="411480"/>
          </a:xfrm>
          <a:prstGeom prst="roundRect">
            <a:avLst>
              <a:gd name="adj" fmla="val 24444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4855464"/>
            <a:ext cx="7278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Iterative deepening search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Breadth-first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00200"/>
            <a:ext cx="10149840" cy="658368"/>
          </a:xfrm>
          <a:prstGeom prst="roundRect">
            <a:avLst>
              <a:gd name="adj" fmla="val 1527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73352"/>
            <a:ext cx="9930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Expand the shallowest unexpanded node first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2788920"/>
            <a:ext cx="5577840" cy="64008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862072"/>
            <a:ext cx="5358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Frontier implementation: FIFO queue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10149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successors go to the end of the queue.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93776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intuition: level by level exploration.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explores level by level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1691640"/>
            <a:ext cx="-1645920" cy="10515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852160" y="1691640"/>
            <a:ext cx="1645920" cy="10515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206240" y="2743200"/>
            <a:ext cx="-91440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206240" y="2743200"/>
            <a:ext cx="91440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498080" y="2743200"/>
            <a:ext cx="-91440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498080" y="2743200"/>
            <a:ext cx="91440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623560" y="14630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5727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251460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624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251460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624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35204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630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5204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630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35204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630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83880" y="3520440"/>
            <a:ext cx="457200" cy="4572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630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40280" y="5074920"/>
            <a:ext cx="7680960" cy="594360"/>
          </a:xfrm>
          <a:prstGeom prst="roundRect">
            <a:avLst>
              <a:gd name="adj" fmla="val 1692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0008" y="5148072"/>
            <a:ext cx="7461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Frontier sequence: A → B,C → C,D,E → D,E,F,G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 of breadth-first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2103120" cy="557784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645920"/>
            <a:ext cx="20299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600200"/>
            <a:ext cx="3429000" cy="557784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645920"/>
            <a:ext cx="33558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157984"/>
            <a:ext cx="21031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194560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157984"/>
            <a:ext cx="3429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9816" y="2194560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if b is finite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2715768"/>
            <a:ext cx="210312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2752344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63240" y="2715768"/>
            <a:ext cx="342900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2752344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if all step costs are equal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3273552"/>
            <a:ext cx="21031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310128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63240" y="3273552"/>
            <a:ext cx="3429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3310128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O(b^(d+1))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3831336"/>
            <a:ext cx="210312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867912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63240" y="3831336"/>
            <a:ext cx="342900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3867912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O(b^(d+1))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2011680"/>
            <a:ext cx="3474720" cy="822960"/>
          </a:xfrm>
          <a:prstGeom prst="roundRect">
            <a:avLst>
              <a:gd name="adj" fmla="val 12222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2084832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Main problem: memory usage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20840" y="324612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stores every generated node in memory.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Uniform-cost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10058400" cy="713232"/>
          </a:xfrm>
          <a:prstGeom prst="roundRect">
            <a:avLst>
              <a:gd name="adj" fmla="val 14103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73352"/>
            <a:ext cx="9838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Expand the node with the lowest path cost g(n)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77440" y="2834640"/>
            <a:ext cx="740664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907792"/>
            <a:ext cx="71871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Frontier implementation: priority queue ordered by g(n)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step costs are not all equal.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is a special case of UCS when every action has the same cost.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 of uniform-cost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2103120" cy="557784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645920"/>
            <a:ext cx="20299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600200"/>
            <a:ext cx="4023360" cy="557784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645920"/>
            <a:ext cx="39502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157984"/>
            <a:ext cx="21031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194560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157984"/>
            <a:ext cx="402336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9816" y="2194560"/>
            <a:ext cx="3950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if step costs ≥ ε &gt; 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2715768"/>
            <a:ext cx="210312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2752344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63240" y="2715768"/>
            <a:ext cx="402336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2752344"/>
            <a:ext cx="3950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with nonnegative step costs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3273552"/>
            <a:ext cx="21031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310128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63240" y="3273552"/>
            <a:ext cx="402336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3310128"/>
            <a:ext cx="3950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exponential in C*/ε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3831336"/>
            <a:ext cx="210312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867912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63240" y="3831336"/>
            <a:ext cx="402336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3867912"/>
            <a:ext cx="3950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exponential; keeps frontier in memory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43800" y="2148840"/>
            <a:ext cx="3200400" cy="10058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2221992"/>
            <a:ext cx="29809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Best when cost matters more than number of steps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Depth-first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10058400" cy="713232"/>
          </a:xfrm>
          <a:prstGeom prst="roundRect">
            <a:avLst>
              <a:gd name="adj" fmla="val 14103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73352"/>
            <a:ext cx="9838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Expand the deepest unexpanded node first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63240" y="2788920"/>
            <a:ext cx="6126480" cy="6858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2862072"/>
            <a:ext cx="5907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Frontier implementation: LIFO stack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follows one branch as far as possible before backtracking.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memory, but dangerous in deep or infinite spaces.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 of depth-first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2103120" cy="557784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645920"/>
            <a:ext cx="20299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600200"/>
            <a:ext cx="3429000" cy="557784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645920"/>
            <a:ext cx="33558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157984"/>
            <a:ext cx="21031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194560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157984"/>
            <a:ext cx="3429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9816" y="2194560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No, if infinite paths or cycles exist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2715768"/>
            <a:ext cx="210312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2752344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63240" y="2715768"/>
            <a:ext cx="342900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2752344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3273552"/>
            <a:ext cx="21031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310128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63240" y="3273552"/>
            <a:ext cx="3429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3310128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O(b^m)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3831336"/>
            <a:ext cx="210312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867912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63240" y="3831336"/>
            <a:ext cx="3429000" cy="5577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3867912"/>
            <a:ext cx="3355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O(bm)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1874520"/>
            <a:ext cx="3474720" cy="777240"/>
          </a:xfrm>
          <a:prstGeom prst="roundRect">
            <a:avLst>
              <a:gd name="adj" fmla="val 12941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1947672"/>
            <a:ext cx="3255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Advantage: low memory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7132320" y="2971800"/>
            <a:ext cx="3474720" cy="777240"/>
          </a:xfrm>
          <a:prstGeom prst="roundRect">
            <a:avLst>
              <a:gd name="adj" fmla="val 12941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044952"/>
            <a:ext cx="3255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Risk: can get lost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Depth-limited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10058400" cy="713232"/>
          </a:xfrm>
          <a:prstGeom prst="roundRect">
            <a:avLst>
              <a:gd name="adj" fmla="val 14103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73352"/>
            <a:ext cx="9838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DFS + maximum depth limit ℓ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691640" y="291693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788920"/>
            <a:ext cx="8458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infinite descent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44728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319272"/>
            <a:ext cx="8458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fail if the goal is deeper than the limit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691640" y="397764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849624"/>
            <a:ext cx="8458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choosing an appropriate limit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691640" y="450799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4379976"/>
            <a:ext cx="8458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we know a safe maximum depth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Iterative deepening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10058400" cy="713232"/>
          </a:xfrm>
          <a:prstGeom prst="roundRect">
            <a:avLst>
              <a:gd name="adj" fmla="val 14103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73352"/>
            <a:ext cx="9838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Run depth-limited search with increasing limits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28800" y="2880360"/>
            <a:ext cx="1143000" cy="54864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2953512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ℓ = 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017520" y="3154680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2880360"/>
            <a:ext cx="1143000" cy="54864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2953512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ℓ =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2880360"/>
            <a:ext cx="1143000" cy="54864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953512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ℓ = 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3154680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2880360"/>
            <a:ext cx="1143000" cy="54864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2953512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ℓ =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0" y="3154680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1143000" cy="54864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2953512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...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BFS completeness with DFS memory efficiency when step costs are equal.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Uninformed search comparison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1554480" cy="693420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527048"/>
            <a:ext cx="148132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481328"/>
            <a:ext cx="1234440" cy="693420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1527048"/>
            <a:ext cx="116128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81328"/>
            <a:ext cx="1234440" cy="693420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527048"/>
            <a:ext cx="116128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481328"/>
            <a:ext cx="3017520" cy="693420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1527048"/>
            <a:ext cx="294436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strength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1481328"/>
            <a:ext cx="4023360" cy="693420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0376" y="1527048"/>
            <a:ext cx="395020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weakness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174748"/>
            <a:ext cx="155448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2211324"/>
            <a:ext cx="148132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57400" y="2174748"/>
            <a:ext cx="123444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3976" y="221132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174748"/>
            <a:ext cx="123444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221132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equal costs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2174748"/>
            <a:ext cx="301752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62856" y="2211324"/>
            <a:ext cx="294436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level-wise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43800" y="2174748"/>
            <a:ext cx="402336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0376" y="2211324"/>
            <a:ext cx="39502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Huge memory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2868168"/>
            <a:ext cx="155448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2904744"/>
            <a:ext cx="148132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57400" y="2868168"/>
            <a:ext cx="123444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290474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2868168"/>
            <a:ext cx="123444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290474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2868168"/>
            <a:ext cx="301752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2856" y="2904744"/>
            <a:ext cx="294436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variable costs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43800" y="2868168"/>
            <a:ext cx="402336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0376" y="2904744"/>
            <a:ext cx="39502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Costly priority queue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3561588"/>
            <a:ext cx="155448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" y="3598164"/>
            <a:ext cx="148132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57400" y="3561588"/>
            <a:ext cx="123444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93976" y="359816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No*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91840" y="3561588"/>
            <a:ext cx="123444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359816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26280" y="3561588"/>
            <a:ext cx="301752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62856" y="3598164"/>
            <a:ext cx="294436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memory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543800" y="3561588"/>
            <a:ext cx="402336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0376" y="3598164"/>
            <a:ext cx="39502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get lost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4255008"/>
            <a:ext cx="155448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4291584"/>
            <a:ext cx="148132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057400" y="4255008"/>
            <a:ext cx="123444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93976" y="429158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No*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91840" y="4255008"/>
            <a:ext cx="123444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28416" y="429158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26280" y="4255008"/>
            <a:ext cx="301752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2856" y="4291584"/>
            <a:ext cx="294436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depth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543800" y="4255008"/>
            <a:ext cx="4023360" cy="6934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0376" y="4291584"/>
            <a:ext cx="39502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may be wrong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02920" y="4948428"/>
            <a:ext cx="155448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9496" y="4985004"/>
            <a:ext cx="148132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057400" y="4948428"/>
            <a:ext cx="123444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93976" y="498500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291840" y="4948428"/>
            <a:ext cx="123444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28416" y="4985004"/>
            <a:ext cx="116128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equal costs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26280" y="4948428"/>
            <a:ext cx="301752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62856" y="4985004"/>
            <a:ext cx="294436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memory + complete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543800" y="4948428"/>
            <a:ext cx="4023360" cy="6934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0376" y="4985004"/>
            <a:ext cx="39502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work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60120" y="5779008"/>
            <a:ext cx="10241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Completeness depends on finite spaces, cycle control and chosen limits.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a strategy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17320"/>
            <a:ext cx="4937760" cy="438912"/>
          </a:xfrm>
          <a:prstGeom prst="roundRect">
            <a:avLst>
              <a:gd name="adj" fmla="val 22917"/>
            </a:avLst>
          </a:prstGeom>
          <a:solidFill>
            <a:srgbClr val="F1F5F9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490472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Need shortest number of actions?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3108960" cy="438912"/>
          </a:xfrm>
          <a:prstGeom prst="roundRect">
            <a:avLst>
              <a:gd name="adj" fmla="val 2291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49047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BFS or IDS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2185416"/>
            <a:ext cx="4937760" cy="438912"/>
          </a:xfrm>
          <a:prstGeom prst="roundRect">
            <a:avLst>
              <a:gd name="adj" fmla="val 22917"/>
            </a:avLst>
          </a:prstGeom>
          <a:solidFill>
            <a:srgbClr val="F1F5F9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25856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Need least total cost?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185416"/>
            <a:ext cx="3108960" cy="438912"/>
          </a:xfrm>
          <a:prstGeom prst="roundRect">
            <a:avLst>
              <a:gd name="adj" fmla="val 22917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25856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UCS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2953512"/>
            <a:ext cx="4937760" cy="438912"/>
          </a:xfrm>
          <a:prstGeom prst="roundRect">
            <a:avLst>
              <a:gd name="adj" fmla="val 22917"/>
            </a:avLst>
          </a:prstGeom>
          <a:solidFill>
            <a:srgbClr val="F1F5F9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026664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Memory is very limited?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953512"/>
            <a:ext cx="3108960" cy="438912"/>
          </a:xfrm>
          <a:prstGeom prst="roundRect">
            <a:avLst>
              <a:gd name="adj" fmla="val 22917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02666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DFS / DLS / IDS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3721608"/>
            <a:ext cx="4937760" cy="438912"/>
          </a:xfrm>
          <a:prstGeom prst="roundRect">
            <a:avLst>
              <a:gd name="adj" fmla="val 22917"/>
            </a:avLst>
          </a:prstGeom>
          <a:solidFill>
            <a:srgbClr val="F1F5F9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794760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Depth bound is known?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721608"/>
            <a:ext cx="3108960" cy="438912"/>
          </a:xfrm>
          <a:prstGeom prst="roundRect">
            <a:avLst>
              <a:gd name="adj" fmla="val 2291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79476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05840" y="4489704"/>
            <a:ext cx="4937760" cy="438912"/>
          </a:xfrm>
          <a:prstGeom prst="roundRect">
            <a:avLst>
              <a:gd name="adj" fmla="val 22917"/>
            </a:avLst>
          </a:prstGeom>
          <a:solidFill>
            <a:srgbClr val="F1F5F9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562856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Unknown shallow solution?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4489704"/>
            <a:ext cx="3108960" cy="438912"/>
          </a:xfrm>
          <a:prstGeom prst="roundRect">
            <a:avLst>
              <a:gd name="adj" fmla="val 22917"/>
            </a:avLst>
          </a:prstGeom>
          <a:solidFill>
            <a:srgbClr val="CFFA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56285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IDS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choice is a modelling decision, not a memorized rule.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exercise: Romania route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in Arad, find a route to Bucharest using BFS.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54480" y="259689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468880"/>
            <a:ext cx="8915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initial state and goal test.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554480" y="314553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017520"/>
            <a:ext cx="8915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the first two frontier updates.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554480" y="369417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566160"/>
            <a:ext cx="8915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Indicate the order in which cities are expanded.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554480" y="42428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4114800"/>
            <a:ext cx="89154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whether BFS gives the lowest-distance route.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828800" y="5257800"/>
            <a:ext cx="8595360" cy="640080"/>
          </a:xfrm>
          <a:prstGeom prst="roundRect">
            <a:avLst>
              <a:gd name="adj" fmla="val 15714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5330952"/>
            <a:ext cx="8375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Key question: shortest in number of edges or shortest in kilometres?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exercise: currency exchange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the change problem for Y = 15 cents.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08760" y="245973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331720"/>
            <a:ext cx="9189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state representation.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8760" y="29626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834640"/>
            <a:ext cx="9189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initial state.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8760" y="346557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337560"/>
            <a:ext cx="9189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successor actions for 50, 10, 5 and 1 cent coins.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8760" y="396849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3840480"/>
            <a:ext cx="9189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breadth-first tree up to the first solution.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8760" y="44714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343400"/>
            <a:ext cx="9189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first BFS solution also minimal in number of coins?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exercise: missionaries and cannibals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Formulate the problem before trying to solve it.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05840" y="2148840"/>
            <a:ext cx="2743200" cy="437606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94560"/>
            <a:ext cx="267004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148840"/>
            <a:ext cx="7315200" cy="437606"/>
          </a:xfrm>
          <a:prstGeom prst="rect">
            <a:avLst/>
          </a:prstGeom>
          <a:solidFill>
            <a:srgbClr val="0F172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2194560"/>
            <a:ext cx="7242048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space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586446"/>
            <a:ext cx="2743200" cy="43760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623022"/>
            <a:ext cx="2670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representation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2586446"/>
            <a:ext cx="7315200" cy="43760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623022"/>
            <a:ext cx="7242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3024051"/>
            <a:ext cx="2743200" cy="43760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060627"/>
            <a:ext cx="2670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3024051"/>
            <a:ext cx="7315200" cy="43760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3060627"/>
            <a:ext cx="7242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3461657"/>
            <a:ext cx="2743200" cy="43760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498233"/>
            <a:ext cx="2670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state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3461657"/>
            <a:ext cx="7315200" cy="43760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3498233"/>
            <a:ext cx="7242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5840" y="3899263"/>
            <a:ext cx="2743200" cy="43760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935839"/>
            <a:ext cx="2670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actions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49040" y="3899263"/>
            <a:ext cx="7315200" cy="43760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3935839"/>
            <a:ext cx="7242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5840" y="4336869"/>
            <a:ext cx="2743200" cy="43760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4373445"/>
            <a:ext cx="2670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constraint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49040" y="4336869"/>
            <a:ext cx="7315200" cy="43760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4373445"/>
            <a:ext cx="7242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" y="4774474"/>
            <a:ext cx="2743200" cy="43760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811050"/>
            <a:ext cx="2670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function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49040" y="4774474"/>
            <a:ext cx="7315200" cy="43760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4811050"/>
            <a:ext cx="7242048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connection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view for the lab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1645920" cy="640080"/>
          </a:xfrm>
          <a:prstGeom prst="roundRect">
            <a:avLst>
              <a:gd name="adj" fmla="val 15714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848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Estado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1645920" cy="640080"/>
          </a:xfrm>
          <a:prstGeom prst="roundRect">
            <a:avLst>
              <a:gd name="adj" fmla="val 15714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0848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Sucesor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2011680"/>
            <a:ext cx="1645920" cy="640080"/>
          </a:xfrm>
          <a:prstGeom prst="roundRect">
            <a:avLst>
              <a:gd name="adj" fmla="val 15714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20848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1645920" cy="640080"/>
          </a:xfrm>
          <a:prstGeom prst="roundRect">
            <a:avLst>
              <a:gd name="adj" fmla="val 15714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20848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0" y="3063240"/>
            <a:ext cx="1463040" cy="548640"/>
          </a:xfrm>
          <a:prstGeom prst="roundRect">
            <a:avLst>
              <a:gd name="adj" fmla="val 18333"/>
            </a:avLst>
          </a:prstGeom>
          <a:solidFill>
            <a:srgbClr val="F1F5F9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8128" y="3136392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Visitados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2331720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2331720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331720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9680" y="2697480"/>
            <a:ext cx="1188720" cy="4572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5840" y="4846320"/>
            <a:ext cx="10149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theory of Unit 2 should map directly to Java classes and data structures.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modelling pitfalls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08760"/>
            <a:ext cx="4572000" cy="585216"/>
          </a:xfrm>
          <a:prstGeom prst="roundRect">
            <a:avLst>
              <a:gd name="adj" fmla="val 17188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Confusing states with nodes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4572000" cy="585216"/>
          </a:xfrm>
          <a:prstGeom prst="roundRect">
            <a:avLst>
              <a:gd name="adj" fmla="val 1718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581912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Forgetting the path cost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578608"/>
            <a:ext cx="4572000" cy="585216"/>
          </a:xfrm>
          <a:prstGeom prst="roundRect">
            <a:avLst>
              <a:gd name="adj" fmla="val 17188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51760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Generating illegal successors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578608"/>
            <a:ext cx="4572000" cy="585216"/>
          </a:xfrm>
          <a:prstGeom prst="roundRect">
            <a:avLst>
              <a:gd name="adj" fmla="val 1718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651760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Ignoring repeated states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4572000" cy="585216"/>
          </a:xfrm>
          <a:prstGeom prst="roundRect">
            <a:avLst>
              <a:gd name="adj" fmla="val 17188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21608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Using BFS when costs are not equal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3648456"/>
            <a:ext cx="4572000" cy="585216"/>
          </a:xfrm>
          <a:prstGeom prst="roundRect">
            <a:avLst>
              <a:gd name="adj" fmla="val 1718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721608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 the goal at the wrong moment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2 synthesis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71600"/>
            <a:ext cx="502920" cy="384048"/>
          </a:xfrm>
          <a:prstGeom prst="roundRect">
            <a:avLst>
              <a:gd name="adj" fmla="val 26190"/>
            </a:avLst>
          </a:prstGeom>
          <a:solidFill>
            <a:srgbClr val="F97316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444752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344168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Formulate the problem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502920" cy="384048"/>
          </a:xfrm>
          <a:prstGeom prst="roundRect">
            <a:avLst>
              <a:gd name="adj" fmla="val 26190"/>
            </a:avLst>
          </a:prstGeom>
          <a:solidFill>
            <a:srgbClr val="F97316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130552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029968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 abstraction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05840" y="2743200"/>
            <a:ext cx="502920" cy="384048"/>
          </a:xfrm>
          <a:prstGeom prst="roundRect">
            <a:avLst>
              <a:gd name="adj" fmla="val 26190"/>
            </a:avLst>
          </a:prstGeom>
          <a:solidFill>
            <a:srgbClr val="F97316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816352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715768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states and successors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3429000"/>
            <a:ext cx="502920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502152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3401568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frontier and explored set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05840" y="4114800"/>
            <a:ext cx="502920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187952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4087368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strategy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05840" y="4800600"/>
            <a:ext cx="502920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873752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4773168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completeness, optimality, time and space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are the four components of a search problem formulation?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difference between a state and a node?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does graph search use an explored set?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When is BFS optimal?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Which strategy should be used when step costs differ?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43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Next: informed search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103120"/>
            <a:ext cx="3108960" cy="914400"/>
          </a:xfrm>
          <a:prstGeom prst="roundRect">
            <a:avLst>
              <a:gd name="adj" fmla="val 110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176272"/>
            <a:ext cx="2889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Unit 2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Uninformed search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55280" y="2103120"/>
            <a:ext cx="3108960" cy="914400"/>
          </a:xfrm>
          <a:prstGeom prst="roundRect">
            <a:avLst>
              <a:gd name="adj" fmla="val 110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2176272"/>
            <a:ext cx="2889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Unit 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Informed search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34840" y="2560320"/>
            <a:ext cx="338328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10241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adds domain knowledge through heuristic functions.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097280" y="4892040"/>
            <a:ext cx="98755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exploring blindly, the agent estimates which states look closer to the goal.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Universidad de Castilla-La Mancha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2 - Problem Solving and Search</dc:title>
  <dc:subject>Intelligent Systems - Unit 2</dc:subject>
  <dc:creator>Rubén Juárez Cádiz</dc:creator>
  <cp:lastModifiedBy>Rubén Juárez Cádiz</cp:lastModifiedBy>
  <cp:revision>1</cp:revision>
  <dcterms:created xsi:type="dcterms:W3CDTF">2026-09-23T11:52:50Z</dcterms:created>
  <dcterms:modified xsi:type="dcterms:W3CDTF">2026-09-23T11:52:50Z</dcterms:modified>
</cp:coreProperties>
</file>