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del Tema 3. Enlazar con el Tema 2: ya sabemos formular problemas y aplicar búsqueda no informada; ahora introducimos conocimiento adicional mediante heurísticas.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BFS/DFS/UCS con búsqueda informada. La palabra clave es estimación: no sabemos el coste real restante, pero podemos aproximarlo.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temario como una ruta. Objetivo práctico: que sepan implementar y razonar sobre A* y diseñar heurísticas.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Reforzar que no cambia el problema, cambia la estrategia de expansión.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Vincular con implementación Java: Nodo tendrá estado, padre, acción, profundidad y coste acumulado. Estado sigue siendo inmutable/compacto.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es coste real acumulado. h es estimación del coste restante. A* combina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cotidiano: elegir qué camino parece más cercano al destino. La heurística debe ser computacionalmente barata.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todas son best-first con una función f diferente. UCS es un caso especial.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pseudocódigo se reutiliza para Greedy y A*. La estructura de datos esencial es una cola de prioridad.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no mira lo que ya ha costado llegar hasta el nodo. Solo mira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visual con valores h. Importa que entiendan que h decide por sí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puede ser eficaz, pero no garantiza optimalidad porque no incorpora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diapositiva central del tema. A* no es Greedy; no persigue solo la cercanía aparente.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Visualizar A* como suma de coste real acumulado más estimación restante.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A* es un algoritmo de graph search con control de repetidos y actualización por mejor coste.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rápido en clase. Pedir que calculen f y seleccionen el nodo.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heurística admisible puede subestimar, pero nunca sobrestimar.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desigualdad triangular. Si una heurística es consistente, f no disminuye a lo largo de un camino.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profundizar en demostración formal salvo que el grupo lo pida. Objetivo: entender por qué nos interesa.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condiciones sin convertirlo en una prueba matemática larga.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A* puede ser óptimo y aun así impracticable. La memoria es el gran cuello de botella.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todas las heurísticas necesitan ser admisibles si buscamos rapidez; pero si se promete optimalidad, hay que demostrarlo.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8-puzzle como ejemplo estándar; después pasar a Loopover.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Dominancia: h2 da valores más altos pero sin pasar de h*. Si h2 domina h1, suele ser preferible.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relajación produce cotas inferiores. Ejemplo: permitir movimientos imposibles o ignorar restricciones.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PBD/HeuristicasPBD del proyecto. No se implementa completamente aquí, pero se introduce el concepto.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Hablar de compromiso coste/beneficio. En el laboratorio no se necesita teoría avanzada, solo comprender la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Traer de vuelta el laboratorio. Tarea 1 era representación; ahora interesan búsqueda informada y heurísticas.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heurísticas útiles de heurísticas admisibles. Para prácticas, pedirles argumentar.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implementación Java. Una frontera mal gestionada arruina A*.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crítico para implementación. No basta con “estado visitado” si puede haber caminos mejores.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Útil para el laboratorio: pedir orden estable y reproducible para depurar.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avanzada breve. Útil para hablar de ingeniería: a veces buscamos soluciones buenas rápido, no óptimas.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convertir esto en otro tema completo. Introducir para cultura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 diapositiva para cerrar sesión o antes de prácticas.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en parejas. Sirve para detectar errores con g/h/f.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razonamiento. Si no pueden justificar, no deben afirmar optimalidad.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explícita la correspondencia teoría-código.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para laboratorio. Muy útil para evitar errores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final del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transición al Tema 4: satisfaction of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118872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2235"/>
                </a:solidFill>
              </a:rPr>
              <a:t>UNIT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Informed Search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932688" y="28346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</a:rPr>
              <a:t>Heuristics · Greedy Best-First Search · A* · Pattern Databases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96012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937760"/>
            <a:ext cx="502920" cy="-640080"/>
          </a:xfrm>
          <a:prstGeom prst="line">
            <a:avLst/>
          </a:prstGeom>
          <a:noFill/>
          <a:ln w="2540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32520" y="4297680"/>
            <a:ext cx="457200" cy="-731520"/>
          </a:xfrm>
          <a:prstGeom prst="line">
            <a:avLst/>
          </a:prstGeom>
          <a:noFill/>
          <a:ln w="2540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89720" y="3566160"/>
            <a:ext cx="667512" cy="-868680"/>
          </a:xfrm>
          <a:prstGeom prst="line">
            <a:avLst/>
          </a:prstGeom>
          <a:noFill/>
          <a:ln w="2540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4937760"/>
            <a:ext cx="1554480" cy="-182880"/>
          </a:xfrm>
          <a:prstGeom prst="line">
            <a:avLst/>
          </a:prstGeom>
          <a:noFill/>
          <a:ln w="12700">
            <a:solidFill>
              <a:srgbClr val="B9C2C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692640" y="4754880"/>
            <a:ext cx="-914400" cy="-1554480"/>
          </a:xfrm>
          <a:prstGeom prst="line">
            <a:avLst/>
          </a:prstGeom>
          <a:noFill/>
          <a:ln w="12700">
            <a:solidFill>
              <a:srgbClr val="B9C2C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778240" y="3200400"/>
            <a:ext cx="1371600" cy="-1188720"/>
          </a:xfrm>
          <a:prstGeom prst="line">
            <a:avLst/>
          </a:prstGeom>
          <a:noFill/>
          <a:ln w="12700">
            <a:solidFill>
              <a:srgbClr val="B9C2C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7818120" y="4709160"/>
            <a:ext cx="777240" cy="384048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4096512"/>
            <a:ext cx="5029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B9C2C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2832" y="3383280"/>
            <a:ext cx="5029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B9C2C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46920" y="2487168"/>
            <a:ext cx="822960" cy="384048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goal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12070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Search guided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by estimates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" y="61081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Universidad de Castilla-La Mancha · Escuela Superior de Informática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informed search?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Unit 2 could search blindly; Unit 3 asks how to guide search intelligently.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only the problem definition: initial state, successors, goal test and cost.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1737360"/>
            <a:ext cx="73152" cy="1325880"/>
          </a:xfrm>
          <a:prstGeom prst="rect">
            <a:avLst/>
          </a:prstGeom>
          <a:solidFill>
            <a:srgbClr val="5261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3736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Informed search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problem-specific knowledge to estimate how promising each state is.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26280" y="1737360"/>
            <a:ext cx="73152" cy="13258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3736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idea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the nodes that appear closer to a solution according to a heuristic.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73152" cy="13258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4023360"/>
            <a:ext cx="8138160" cy="82296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heuristic = useful guess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path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compact map of the unit.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functions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estimates distance to a goal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Best-first 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ordered by an evaluation function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0" y="1645920"/>
            <a:ext cx="457200" cy="457200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2396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search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2396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f(n)=h(n)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search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f(n)=g(n)+h(n)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3383280"/>
            <a:ext cx="457200" cy="457200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2064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quality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Admissibility, consistency, dominance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3383280"/>
            <a:ext cx="457200" cy="457200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82396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databases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2396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Precomputed abstractions for hard puzzles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Recall from Unit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search problem becomes operational when it can generate successors.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10607040" cy="59436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= State Space + Initial State + Actions + Goal Test + Path Cost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13716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090672"/>
            <a:ext cx="822960" cy="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108960" y="2834640"/>
            <a:ext cx="13716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Successors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090672"/>
            <a:ext cx="822960" cy="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03520" y="2834640"/>
            <a:ext cx="13716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Frontier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090672"/>
            <a:ext cx="822960" cy="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0" y="2834640"/>
            <a:ext cx="13716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Explored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3090672"/>
            <a:ext cx="822960" cy="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692640" y="2834640"/>
            <a:ext cx="137160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663440"/>
            <a:ext cx="9966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Informed search does not change the problem formulation; it changes the order in which candidate nodes are expanded.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vs. node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frequent source of errors in implementation.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182880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Physical/configurational description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parent, no depth, no path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011680"/>
            <a:ext cx="1828800" cy="68580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880360"/>
            <a:ext cx="2743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 in the search tree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+ parent + action + g + depth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359152"/>
            <a:ext cx="1828800" cy="0"/>
          </a:xfrm>
          <a:prstGeom prst="line">
            <a:avLst/>
          </a:prstGeom>
          <a:noFill/>
          <a:ln w="2540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90956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and Greedy search order nodes, not states.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0956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state may be reached through different paths and therefore different nodes.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two costs used by informed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We distinguish what has already been paid from what remains estimated.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5074920" cy="73152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g(n) = path cost from the initial state to node 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5074920" cy="7315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= estimated cost from n to a goal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80160" y="4114800"/>
            <a:ext cx="3749040" cy="0"/>
          </a:xfrm>
          <a:prstGeom prst="line">
            <a:avLst/>
          </a:prstGeom>
          <a:noFill/>
          <a:ln w="3810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4114800"/>
            <a:ext cx="493776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91440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840480"/>
            <a:ext cx="7315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16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0" y="3840480"/>
            <a:ext cx="100584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4343400"/>
            <a:ext cx="1005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2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4343400"/>
            <a:ext cx="1188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Heuristic function h(n)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heuristic gives the search algorithm a sense of direction.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1005840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≈ cost of the cheapest path from n to a goal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heuristic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useful guidance and reduces the number of expanded nodes.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2834640"/>
            <a:ext cx="73152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3464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heuristic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Misleads the search or behaves almost like uninformed search.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73152" cy="1325880"/>
          </a:xfrm>
          <a:prstGeom prst="rect">
            <a:avLst/>
          </a:prstGeom>
          <a:solidFill>
            <a:srgbClr val="F9A8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83464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heuristic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overestimate and break optimality guarantees.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2834640"/>
            <a:ext cx="73152" cy="13258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07492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heuristic is not the solution. It is information used to decide what to expand next.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functions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Different search strategies use different node evaluation functions.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908570" cy="514350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7250" y="1645920"/>
            <a:ext cx="3020438" cy="514350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function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97689" y="1645920"/>
            <a:ext cx="4586591" cy="514350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Expansion preference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60270"/>
            <a:ext cx="290857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Uniform-Cost 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77250" y="2160270"/>
            <a:ext cx="3020438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f(n)=g(n)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97689" y="2160270"/>
            <a:ext cx="4586591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lowest accumulated cost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2674620"/>
            <a:ext cx="2908570" cy="514350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Greedy Best-First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77250" y="2674620"/>
            <a:ext cx="3020438" cy="514350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f(n)=h(n)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97689" y="2674620"/>
            <a:ext cx="4586591" cy="514350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apparently closest to goal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188970"/>
            <a:ext cx="290857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A* Search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77250" y="3188970"/>
            <a:ext cx="3020438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f(n)=g(n)+h(n)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97689" y="3188970"/>
            <a:ext cx="4586591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best estimated total path cost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148840" y="4709160"/>
            <a:ext cx="7955280" cy="68580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= ordering rule for the frontier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Best-first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general framework: expand the node with the best evaluation value.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algorithm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4663440" cy="2468880"/>
          </a:xfrm>
          <a:prstGeom prst="rect">
            <a:avLst/>
          </a:prstGeom>
          <a:solidFill>
            <a:srgbClr val="F8FAFC"/>
          </a:solidFill>
          <a:ln>
            <a:solidFill>
              <a:srgbClr val="D6DB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frontier ← priority queue ordered by f(n)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initial node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frontier is not empty: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pop node with best f(n)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goal(n): return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expand n and insert successors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design decision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402336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f(n) do we use?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4023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f(n) changes the behaviour and guarantees of the algorithm.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Best-First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The algorithm expands the node that appears closest to the goal.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49040" y="1600200"/>
            <a:ext cx="4572000" cy="82296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f(n)=h(n)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97180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very fast when the heuristic is informative.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2971800"/>
            <a:ext cx="73152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97180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follow a misleading path and ignore accumulated cost.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2971800"/>
            <a:ext cx="73152" cy="1188720"/>
          </a:xfrm>
          <a:prstGeom prst="rect">
            <a:avLst/>
          </a:prstGeom>
          <a:solidFill>
            <a:srgbClr val="F9A8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97180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optimal in general; completeness depends on the state space and repeated-state control.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2971800"/>
            <a:ext cx="73152" cy="11887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intuition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search strategy that chases the goal estimate.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554480"/>
            <a:ext cx="7955280" cy="68580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Expand the node with the lowest h(n)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1234440" cy="73152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h=6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3200400"/>
            <a:ext cx="1280160" cy="0"/>
          </a:xfrm>
          <a:prstGeom prst="line">
            <a:avLst/>
          </a:prstGeom>
          <a:noFill/>
          <a:ln w="2032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57600" y="2834640"/>
            <a:ext cx="1234440" cy="73152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h=4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3200400"/>
            <a:ext cx="1280160" cy="0"/>
          </a:xfrm>
          <a:prstGeom prst="line">
            <a:avLst/>
          </a:prstGeom>
          <a:noFill/>
          <a:ln w="2032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172200" y="2834640"/>
            <a:ext cx="1234440" cy="73152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h=2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3200400"/>
            <a:ext cx="1280160" cy="0"/>
          </a:xfrm>
          <a:prstGeom prst="line">
            <a:avLst/>
          </a:prstGeom>
          <a:noFill/>
          <a:ln w="2032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686800" y="2834640"/>
            <a:ext cx="1234440" cy="73152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h=0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4754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Greedy sees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heuristic value h(n). It does not ask how expensive the path to the current node has already been.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05840" y="4617720"/>
            <a:ext cx="73152" cy="105156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17720"/>
            <a:ext cx="4754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can be fast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 points toward the goal, Greedy may reach a solution with very few expansions.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0" y="4617720"/>
            <a:ext cx="73152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Greedy fails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low h(n) can hide an expensive route.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4114800" cy="7315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ignores g(n)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673352"/>
            <a:ext cx="5212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nodes may have the same heuristic value but radically different accumulated costs. Greedy does not care.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840480"/>
            <a:ext cx="100584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1051560" cy="713232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h=1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g=50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4937760"/>
            <a:ext cx="1051560" cy="713232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h=2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g=2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749040"/>
            <a:ext cx="100584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goal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4069080"/>
            <a:ext cx="1463040" cy="-1143000"/>
          </a:xfrm>
          <a:prstGeom prst="line">
            <a:avLst/>
          </a:prstGeom>
          <a:noFill/>
          <a:ln w="2540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94560" y="4160520"/>
            <a:ext cx="1463040" cy="1097280"/>
          </a:xfrm>
          <a:prstGeom prst="line">
            <a:avLst/>
          </a:prstGeom>
          <a:noFill/>
          <a:ln w="2540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2926080"/>
            <a:ext cx="1691640" cy="1051560"/>
          </a:xfrm>
          <a:prstGeom prst="line">
            <a:avLst/>
          </a:prstGeom>
          <a:noFill/>
          <a:ln w="2540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09160" y="5285232"/>
            <a:ext cx="1691640" cy="-1216152"/>
          </a:xfrm>
          <a:prstGeom prst="line">
            <a:avLst/>
          </a:prstGeom>
          <a:noFill/>
          <a:ln w="2540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5438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looks closer, but may be much more expensive.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A* balances what has already been paid and what remains estimated.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1600200"/>
            <a:ext cx="6217920" cy="82296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f(n)=g(n)+h(n)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cost from the initial state to 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3063240"/>
            <a:ext cx="73152" cy="118872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632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cost from n to the goal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73152" cy="11887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0632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total cost of a solution through 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0" y="3063240"/>
            <a:ext cx="73152" cy="1188720"/>
          </a:xfrm>
          <a:prstGeom prst="rect">
            <a:avLst/>
          </a:prstGeom>
          <a:solidFill>
            <a:srgbClr val="5E35B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1208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expands the most promising complete path estimate.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as a path estimate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Each node is evaluated as a complete route via that node.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63040" y="3840480"/>
            <a:ext cx="3657600" cy="0"/>
          </a:xfrm>
          <a:prstGeom prst="line">
            <a:avLst/>
          </a:prstGeom>
          <a:noFill/>
          <a:ln w="3810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3840480"/>
            <a:ext cx="493776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" y="3566160"/>
            <a:ext cx="100584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566160"/>
            <a:ext cx="7772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16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0" y="3566160"/>
            <a:ext cx="100584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goal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4343400"/>
            <a:ext cx="228600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g(n)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274320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estimated h(n)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94560" y="1645920"/>
            <a:ext cx="768096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f(n)=estimated total solution cost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pseudocode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Priority queue ordered by f(n)=g(n)+h(n).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508760"/>
            <a:ext cx="640080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6DB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frontier ← priority queue ordered by f(n)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initial node with g=0 and f=h(initial)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frontier is not empty: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pop node with smallest f(n)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goal(n): return path(n)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n.state has not been expanded with lower cost: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 n.state to explored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each successor s of n: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s.g ← n.g + step_cost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s.f ← s.g + h(s)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insert or update s in frontier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589520" y="182880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point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graph search, store the best known cost for each state. If a cheaper path appears, update the frontier.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73152" cy="164592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886200"/>
            <a:ext cx="3474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point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Tie-breaking matters for efficiency, but not usually for correctness when the assumptions hold.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3886200"/>
            <a:ext cx="73152" cy="11887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A* example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Choose the node with the lowest f=g+h.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1522756" cy="530352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37156" y="1600200"/>
            <a:ext cx="1046895" cy="530352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g(n)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84051" y="1600200"/>
            <a:ext cx="1046895" cy="530352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h(n)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0945" y="1600200"/>
            <a:ext cx="1046895" cy="530352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f(n)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130552"/>
            <a:ext cx="1522756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437156" y="2130552"/>
            <a:ext cx="1046895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484051" y="2130552"/>
            <a:ext cx="1046895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6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30945" y="2130552"/>
            <a:ext cx="1046895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8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2660904"/>
            <a:ext cx="1522756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B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437156" y="2660904"/>
            <a:ext cx="1046895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484051" y="2660904"/>
            <a:ext cx="1046895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2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30945" y="2660904"/>
            <a:ext cx="1046895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6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3191256"/>
            <a:ext cx="1522756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C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437156" y="3191256"/>
            <a:ext cx="1046895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5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484051" y="3191256"/>
            <a:ext cx="1046895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5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30945" y="3191256"/>
            <a:ext cx="1046895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10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3721608"/>
            <a:ext cx="1522756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437156" y="3721608"/>
            <a:ext cx="1046895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7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484051" y="3721608"/>
            <a:ext cx="1046895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1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30945" y="3721608"/>
            <a:ext cx="1046895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8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008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node expanded: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0" y="2423160"/>
            <a:ext cx="4023360" cy="7315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B, because f(B)=6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3429000"/>
            <a:ext cx="4023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is not choosing the lowest h.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chooses the lowest estimated total cost.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Admissible heuristics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The condition that protects optimality.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77440" y="1600200"/>
            <a:ext cx="749808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≤ h*(n) for every node 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2514600"/>
            <a:ext cx="6309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h*(n) is the true cheapest cost from n to a goal.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overestimates the true remaining cost.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338328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38328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optimistic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Allowed. It may expand more nodes, but preserves optimality.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80560" y="338328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38328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pessimistic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admissible. It can make A* miss the optimal path.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63840" y="338328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stronger and very useful property for graph search.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11680" y="1691640"/>
            <a:ext cx="813816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≤ c(n,a,n′) + h(n′)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3749040"/>
            <a:ext cx="82296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3749040"/>
            <a:ext cx="82296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977640"/>
            <a:ext cx="3017520" cy="0"/>
          </a:xfrm>
          <a:prstGeom prst="line">
            <a:avLst/>
          </a:prstGeom>
          <a:noFill/>
          <a:ln w="2540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72000" y="4133088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cost 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the estimated distance from n should not be greater than going one step to n′ plus the estimate from n′.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consistency matters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It makes graph search simpler and safer.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Monotonicity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Along any path, f-values do not decrease when the heuristic is consistent.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51560" y="169164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9164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states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a node is expanded with the cheapest g, we do not need to reopen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80560" y="169164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69164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Priority-queue updates become easier to reason about.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09560" y="169164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4251960"/>
            <a:ext cx="5943600" cy="68580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⇒ admissible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Optimality of A*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A* is optimal under the right assumptions.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search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is optimal if h is admissible and step costs are non-negative.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1737360"/>
            <a:ext cx="73152" cy="141732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3736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search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is optimal with a consistent heuristic, or with appropriate reopening of nodes.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73152" cy="14173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 for students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251960"/>
            <a:ext cx="8503920" cy="7315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is only as safe as its heuristic assumptions.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Complexity of A*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Informed does not mean cheap.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case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heuristic expands only a small fraction of the search space.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1828800"/>
            <a:ext cx="73152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case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exponential in the solution depth for many hard problems.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73152" cy="13258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82880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stores many frontier nodes, often becoming memory-limited.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73152" cy="1325880"/>
          </a:xfrm>
          <a:prstGeom prst="rect">
            <a:avLst/>
          </a:prstGeom>
          <a:solidFill>
            <a:srgbClr val="F9A8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battle is heuristic quality versus computational cost.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Designing heuristics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Three design principles.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 to compute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heuristic should save more time than it costs.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182880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Informative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should distinguish promising states from bad ones.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8288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when needed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optimality matters, prove admissibility or consistency.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572000"/>
            <a:ext cx="704088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heuristic → fewer expanded nodes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 example: 8-puzzle heuristics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Two common heuristics illustrate quality and dominance.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h1: misplaced tiles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tiles not in their goal position.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1600200"/>
            <a:ext cx="73152" cy="118872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002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h2: Manhattan distance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of horizontal and vertical tile distances to goal positions.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26280" y="1600200"/>
            <a:ext cx="73152" cy="11887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002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is usually more informative than h1 and still admissible for the standard 8-puzzle.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73152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8404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8404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8404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43434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43434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3434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48463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14600" y="4846320"/>
            <a:ext cx="502920" cy="502920"/>
          </a:xfrm>
          <a:prstGeom prst="rect">
            <a:avLst/>
          </a:prstGeom>
          <a:solidFill>
            <a:srgbClr val="F6F8FA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_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48463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9C2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51960" y="4160520"/>
            <a:ext cx="6035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Heuristics transform domain knowledge into numbers.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Dominance between heuristics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heuristic h2 dominates h1 when it is never smaller and both are admissible.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600200"/>
            <a:ext cx="6675120" cy="64008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h2(n) ≥ h1(n) for every 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514600"/>
            <a:ext cx="9601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both heuristics are admissible, the dominating heuristic is at least as informed and will typically expand fewer nodes.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3657600"/>
            <a:ext cx="1645920" cy="356616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3657600"/>
            <a:ext cx="1280160" cy="356616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657600"/>
            <a:ext cx="1280160" cy="356616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014216"/>
            <a:ext cx="164592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77840" y="4014216"/>
            <a:ext cx="12801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0" y="4014216"/>
            <a:ext cx="12801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31920" y="4370832"/>
            <a:ext cx="1645920" cy="356616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77840" y="4370832"/>
            <a:ext cx="1280160" cy="356616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4370832"/>
            <a:ext cx="1280160" cy="356616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7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31920" y="4727448"/>
            <a:ext cx="164592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77840" y="4727448"/>
            <a:ext cx="12801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0" y="4727448"/>
            <a:ext cx="12801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31920" y="5084064"/>
            <a:ext cx="1645920" cy="356616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77840" y="5084064"/>
            <a:ext cx="1280160" cy="356616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58000" y="5084064"/>
            <a:ext cx="1280160" cy="356616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Relaxed problems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common way to invent admissible heuristics.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problem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all constraints and is usually hard.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187452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7452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Relaxed problem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one or more constraints to make it easier.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17720" y="187452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7452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cost in the relaxed problem becomes a lower bound.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4343400"/>
            <a:ext cx="6858000" cy="68580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easier problem cost ≤ real problem cost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Databases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Precompute exact distances in an abstract version of the problem.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1463040" cy="73152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Choose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pattern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2651760"/>
            <a:ext cx="146304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40480" y="2286000"/>
            <a:ext cx="1463040" cy="73152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Build abstract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state space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2651760"/>
            <a:ext cx="146304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766560" y="2286000"/>
            <a:ext cx="1463040" cy="73152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Run reverse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651760"/>
            <a:ext cx="118872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418320" y="2286000"/>
            <a:ext cx="1463040" cy="73152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distances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9692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A*, look up the abstract state and use the stored distance as h(n).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databases are especially useful in puzzles where many states are visited repeatedly.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Database trade-offs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stronger heuristic often requires more memory.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3017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pattern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memory, fast lookup, weaker estimate.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1920240"/>
            <a:ext cx="73152" cy="128016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3017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pattern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informative, but much more expensive to precompute/store.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73152" cy="128016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920240"/>
            <a:ext cx="3017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Additive PDBs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independent patterns can sometimes be combined safely.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73152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4572000"/>
            <a:ext cx="630936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heuristic power ↔ memory cost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Loopover as an informed-search problem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The laboratory puzzle is a perfect case study.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69164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6916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19456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1945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219456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1945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6974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69748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26974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69748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2004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200400"/>
            <a:ext cx="502920" cy="502920"/>
          </a:xfrm>
          <a:prstGeom prst="rect">
            <a:avLst/>
          </a:prstGeom>
          <a:solidFill>
            <a:srgbClr val="EAF4FB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2004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9FB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164592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4×4 board configuration encoded compactly.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977640" y="1645920"/>
            <a:ext cx="73152" cy="105156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88036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action shifts one row and one column in a coupled toroidal move.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977640" y="2880360"/>
            <a:ext cx="73152" cy="105156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411480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ordered configuration 00,01,...,15.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977640" y="4114800"/>
            <a:ext cx="73152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adds heuristic guidance to the solver.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635240" y="3429000"/>
            <a:ext cx="3246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challenge: define h(state) so that A* expands fewer states.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heuristics for Loopover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From simple to more informed.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508760"/>
            <a:ext cx="2286000" cy="603504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Heuristic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0360" y="1508760"/>
            <a:ext cx="4754880" cy="603504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Idea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1508760"/>
            <a:ext cx="3931920" cy="603504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22860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Misplaced pieces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112264"/>
            <a:ext cx="47548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count pieces not in their goal cell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2112264"/>
            <a:ext cx="39319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cheap but weak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715768"/>
            <a:ext cx="228600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Toroidal distance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2715768"/>
            <a:ext cx="475488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estimate row/column displacement on a torus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2715768"/>
            <a:ext cx="393192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more informative, needs care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319272"/>
            <a:ext cx="22860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Relaxed problem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3319272"/>
            <a:ext cx="47548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ignore coupling or interactions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3319272"/>
            <a:ext cx="39319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can provide lower bounds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922776"/>
            <a:ext cx="228600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Pattern database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3922776"/>
            <a:ext cx="475488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precompute distances for selected pieces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35240" y="3922776"/>
            <a:ext cx="393192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stronger, memory-intensive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5166360"/>
            <a:ext cx="9875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a heuristic used for optimal A* must be justified, not only invented.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Frontier implementation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Priority queues are the core data structure.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3017520" cy="64008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= f(n)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1488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insert(node)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candidate to be explored later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34840" y="2148840"/>
            <a:ext cx="73152" cy="82296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1546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popBest()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the candidate with smallest f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34840" y="3154680"/>
            <a:ext cx="73152" cy="82296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1605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update(node)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a worse path by a better one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34840" y="4160520"/>
            <a:ext cx="73152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24028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options: PriorityQueue, custom comparator, or library structures such as MinMaxPriorityQueue.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Repeated states and cheaper paths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Graph search must remember what it has already found.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640080" cy="41148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9144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16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g=5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4572000"/>
            <a:ext cx="9144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16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g=2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377440"/>
            <a:ext cx="914400" cy="548640"/>
          </a:xfrm>
          <a:prstGeom prst="rect">
            <a:avLst/>
          </a:prstGeom>
          <a:solidFill>
            <a:srgbClr val="FBECEF"/>
          </a:solidFill>
          <a:ln w="1524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g=8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572000"/>
            <a:ext cx="914400" cy="548640"/>
          </a:xfrm>
          <a:prstGeom prst="rect">
            <a:avLst/>
          </a:prstGeom>
          <a:solidFill>
            <a:srgbClr val="EAF4FB"/>
          </a:solidFill>
          <a:ln w="1524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g=4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657600"/>
            <a:ext cx="1280160" cy="-100584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45920" y="3730752"/>
            <a:ext cx="1280160" cy="1115568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40480" y="2651760"/>
            <a:ext cx="1645920" cy="0"/>
          </a:xfrm>
          <a:prstGeom prst="line">
            <a:avLst/>
          </a:prstGeom>
          <a:noFill/>
          <a:ln w="22860">
            <a:solidFill>
              <a:srgbClr val="9D223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4846320"/>
            <a:ext cx="1645920" cy="0"/>
          </a:xfrm>
          <a:prstGeom prst="line">
            <a:avLst/>
          </a:prstGeom>
          <a:noFill/>
          <a:ln w="22860">
            <a:solidFill>
              <a:srgbClr val="0072B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1323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state X, different path costs.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306324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best known g for each state. A path with lower g must replace a worse one.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Tie-breaking in A*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What if several nodes have the same f-value?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smaller h: move closer to the goal estimate.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1828800"/>
            <a:ext cx="73152" cy="1143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larger g: often drives the search deeper among equally good estimates.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73152" cy="1143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82880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insertion order for deterministic reproducibility.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10149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Tie-breaking does not define A*, but it can strongly affect performance and repeatability.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Weighted A*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useful variation when speed matters more than optimality.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51760" y="1600200"/>
            <a:ext cx="6766560" cy="68580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f(n)=g(n)+w·h(n),  w&gt;1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aggressive toward the goal.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2834640"/>
            <a:ext cx="73152" cy="10972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3464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faster and expands fewer nodes.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73152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83464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Optimality is no longer guaranteed in general.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2834640"/>
            <a:ext cx="73152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Memory-bounded informed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When A* runs out of memory, alternatives exist.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IDA*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Iterative deepening on f-cost thresholds.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1828800"/>
            <a:ext cx="73152" cy="10972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288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RBFS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best-first search keeps limited memory.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73152" cy="10972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288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SMA*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memory-bounded A*: uses all available memory.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73152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5720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important conceptually; the core implementation target remains A* and heuristic design.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What usually goes wrong in exams and labs.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320040" cy="320040"/>
          </a:xfrm>
          <a:prstGeom prst="rect">
            <a:avLst/>
          </a:prstGeom>
          <a:solidFill>
            <a:srgbClr val="9D2235"/>
          </a:solidFill>
          <a:ln>
            <a:solidFill>
              <a:srgbClr val="9D2235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1627632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Confusing h(n) with f(n)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320040" cy="320040"/>
          </a:xfrm>
          <a:prstGeom prst="rect">
            <a:avLst/>
          </a:prstGeom>
          <a:solidFill>
            <a:srgbClr val="9D2235"/>
          </a:solidFill>
          <a:ln>
            <a:solidFill>
              <a:srgbClr val="9D2235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2724912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Assuming Greedy is optimal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320040" cy="320040"/>
          </a:xfrm>
          <a:prstGeom prst="rect">
            <a:avLst/>
          </a:prstGeom>
          <a:solidFill>
            <a:srgbClr val="9D2235"/>
          </a:solidFill>
          <a:ln>
            <a:solidFill>
              <a:srgbClr val="9D2235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3822192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an overestimating heuristic with A* and claiming optimality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320040" cy="320040"/>
          </a:xfrm>
          <a:prstGeom prst="rect">
            <a:avLst/>
          </a:prstGeom>
          <a:solidFill>
            <a:srgbClr val="0072BC"/>
          </a:solidFill>
          <a:ln>
            <a:solidFill>
              <a:srgbClr val="0072BC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1627632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Marking a state as closed before considering cheaper paths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320040" cy="320040"/>
          </a:xfrm>
          <a:prstGeom prst="rect">
            <a:avLst/>
          </a:prstGeom>
          <a:solidFill>
            <a:srgbClr val="0072BC"/>
          </a:solidFill>
          <a:ln>
            <a:solidFill>
              <a:srgbClr val="0072BC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724912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Forgetting to reconstruct the path from parent links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840480"/>
            <a:ext cx="320040" cy="320040"/>
          </a:xfrm>
          <a:prstGeom prst="rect">
            <a:avLst/>
          </a:prstGeom>
          <a:solidFill>
            <a:srgbClr val="0072BC"/>
          </a:solidFill>
          <a:ln>
            <a:solidFill>
              <a:srgbClr val="0072BC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3822192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Making h(n) more expensive than the search it saves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Trace A* step by step.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645920"/>
            <a:ext cx="9966960" cy="68580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Given g and h values, compute f and expand nodes in order.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246120"/>
            <a:ext cx="5760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Compute f(n)=g(n)+h(n) for every frontier node.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Select the node with the lowest f.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Update the frontier after expansion.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Continue until the goal is selected for expansion.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expansion order + final path + total cost.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Is this heuristic admissible?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4572000" cy="603504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5303520" cy="603504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Discuss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03704"/>
            <a:ext cx="45720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h(n)=0 for every state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77840" y="2203704"/>
            <a:ext cx="53035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Admissible? useful?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2807208"/>
            <a:ext cx="457200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h(n)=number of misplaced pieces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77840" y="2807208"/>
            <a:ext cx="530352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Admissible for which problem?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3410712"/>
            <a:ext cx="45720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h(n)=2 × Manhattan distance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77840" y="3410712"/>
            <a:ext cx="53035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What could go wrong?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4014216"/>
            <a:ext cx="457200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Random h(n)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77840" y="4014216"/>
            <a:ext cx="530352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Can it be safe?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only to answer yes/no, but to justify the reasoning.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bridge: from Unit 2 to Unit 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How this unit maps to the Java solver.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2926080" cy="515983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Concept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1508760"/>
            <a:ext cx="7909560" cy="515983"/>
          </a:xfrm>
          <a:prstGeom prst="rect">
            <a:avLst/>
          </a:prstGeom>
          <a:solidFill>
            <a:srgbClr val="102A43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Java artefact / implementation idea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024743"/>
            <a:ext cx="2926080" cy="515983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024743"/>
            <a:ext cx="7909560" cy="515983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Estado.java compact board representation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540726"/>
            <a:ext cx="2926080" cy="515983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Successor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540726"/>
            <a:ext cx="7909560" cy="515983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Sucesor(action, newState, cost)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056709"/>
            <a:ext cx="2926080" cy="515983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3056709"/>
            <a:ext cx="7909560" cy="515983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state, parent, action, depth, g, h, 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572691"/>
            <a:ext cx="2926080" cy="515983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Frontier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3572691"/>
            <a:ext cx="7909560" cy="515983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priority queue ordered by strategy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088674"/>
            <a:ext cx="2926080" cy="515983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Heuristic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4088674"/>
            <a:ext cx="7909560" cy="515983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Heuristicas.java / HeuristicasPBD.java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604657"/>
            <a:ext cx="2926080" cy="515983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Solver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4604657"/>
            <a:ext cx="7909560" cy="515983"/>
          </a:xfrm>
          <a:prstGeom prst="rect">
            <a:avLst/>
          </a:prstGeom>
          <a:solidFill>
            <a:srgbClr val="F8FAFC"/>
          </a:solidFill>
          <a:ln w="762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A*, Greedy, UCS through common graph-search core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implementation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Before claiming that A* works.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49047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 are immutable and hashable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Successors preserve action ordering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is accumulated correctly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is computed from the resulting 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49047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pops minimum 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g per state is stored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path is reconstructed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include trivial and non-trivial states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summary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Core concepts to retain.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40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737360"/>
            <a:ext cx="123444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remaining cost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1737360"/>
            <a:ext cx="123444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h(n) only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1737360"/>
            <a:ext cx="123444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6920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g(n)+h(n)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123444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Admissible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40280" y="344728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overestimates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3429000"/>
            <a:ext cx="1234440" cy="502920"/>
          </a:xfrm>
          <a:prstGeom prst="rect">
            <a:avLst/>
          </a:prstGeom>
          <a:solidFill>
            <a:srgbClr val="EAF4FB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344728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triangle inequality for 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3429000"/>
            <a:ext cx="1234440" cy="50292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46920" y="344728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precomputed abstract distances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informed search to CSP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The next unit changes the representation of the problem.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41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through states guided by heuristics.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1920240"/>
            <a:ext cx="73152" cy="13258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problems as variables, domains and constraints.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73152" cy="13258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578608"/>
            <a:ext cx="1280160" cy="0"/>
          </a:xfrm>
          <a:prstGeom prst="line">
            <a:avLst/>
          </a:prstGeom>
          <a:noFill/>
          <a:ln w="2540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97280" y="4572000"/>
            <a:ext cx="95097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goal remains: reduce the search space.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42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 of Unit 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</a:rPr>
              <a:t>Informed Search Algorithms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10241280" cy="822960"/>
          </a:xfrm>
          <a:prstGeom prst="rect">
            <a:avLst/>
          </a:prstGeom>
          <a:solidFill>
            <a:srgbClr val="FBECEF"/>
          </a:solidFill>
          <a:ln w="15240">
            <a:solidFill>
              <a:srgbClr val="BFD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best search is not the one that explores more, but the one that knows what to ignore.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Universidad de Castilla-La Mancha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3. Informed Search Algorithms</dc:title>
  <dc:subject>Intelligent Systems - Unit 3</dc:subject>
  <dc:creator>Rubén Juárez Cádiz</dc:creator>
  <cp:lastModifiedBy>Rubén Juárez Cádiz</cp:lastModifiedBy>
  <cp:revision>1</cp:revision>
  <dcterms:created xsi:type="dcterms:W3CDTF">2026-09-23T13:35:23Z</dcterms:created>
  <dcterms:modified xsi:type="dcterms:W3CDTF">2026-09-23T13:35:23Z</dcterms:modified>
</cp:coreProperties>
</file>