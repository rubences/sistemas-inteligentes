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el Tema 4 como un cambio de representación: no buscamos directamente rutas en un grafo explícito, sino asignaciones compatibles con restricciones.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motivación es separar representación y algoritmo. En CSP, la estructura del problema ayuda a podar.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resultados de aprendizaje. Conectar con examen: formular CSP, ejecutar backtracking y AC-3.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definición formal debe quedar muy clara. Un CSP no pregunta por una ruta sino por una asignación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canónico para entender variables, dominios y restricciones binarias.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grafo de restricciones permite visualizar dependencias. En CSPs no binarios podemos convertir o usar hipergrafos/global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AllDifferent porque aparece en Sudoku, N-Reinas, horarios,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parcial/consistente/completa/solución. Muy útil para backtracking.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Tema 2: se puede ver como búsqueda, pero CSP añade 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Backtracking es el algoritmo básico. Las mejoras del tema cambian selección de variables, orden de valores y propagación.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cada poda evita expandir muchos descendientes.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MRV también se conoce como fail-first: si hay un fallo, conviene descubrirlo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grado no sustituye a MRV; se suele usar como desempate.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LCV ayuda a encontrar una solución antes, aunque no reduce necesariamente el tamaño teórico del 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inferencia no elige valores; elimina valores incompatibles para podar.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checking revisa vecinos directos no asignados tras una asignación. No alcanza consistencia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esencial. Arc consistency elimina valores, no asigna necesariamente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simple para explicar soporte. Si X&lt;Y y Y solo puede ser 2, entonces X solo puede ser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AC-3 es un algoritmo de propagación. Puede ejecutarse antes o durante búsqueda.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operativo de un solver CSP clásico.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eficiente: variable por columna, dominio fila. Evita modelar celdas binarias N×N.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Sudoku ilustra restricciones globales. No es necesario resolver uno completo en clase, pero sí formularlo.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search no construye desde vacío; empieza con una asignación completa e intenta arreglarla.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Min-conflicts es un buen cierre del tema: búsqueda local frente a backtracking sistemático.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con temas 2 y 3: CSP también puede verse como búsqueda, pero explota restricciones.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una pauta práctica para ejercicios y 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Útil para preparar ejercicios de formulación.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aula de 10-15 minutos. Pedir que identifiquen variables, dominios, restricciones y dos pasos de búsqueda.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antes de pasar al mini-test o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repaso oral o como test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transición a búsqueda adversaria.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118872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2235"/>
                </a:solidFill>
              </a:rPr>
              <a:t>UNIT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5760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Satisfaction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32688" y="34290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2616B"/>
                </a:solidFill>
              </a:rPr>
              <a:t>Variables · Domains · Constraints · Backtracking · Arc Consistency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0" y="914400"/>
            <a:ext cx="3840480" cy="4754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828800"/>
            <a:ext cx="658368" cy="658368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0" y="1828800"/>
            <a:ext cx="658368" cy="658368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green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3474720"/>
            <a:ext cx="658368" cy="658368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49840" y="3474720"/>
            <a:ext cx="658368" cy="658368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yellow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4709160"/>
            <a:ext cx="658368" cy="658368"/>
          </a:xfrm>
          <a:prstGeom prst="rect">
            <a:avLst/>
          </a:prstGeom>
          <a:solidFill>
            <a:srgbClr val="FBECEF"/>
          </a:solidFill>
          <a:ln w="1397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11155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 problem 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constraints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61081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Universidad de Castilla-La Mancha · Escuela Superior de Informática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CSPs?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Some problems are easier to describe as variables plus restrictions.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600200"/>
            <a:ext cx="329184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600200"/>
            <a:ext cx="73152" cy="1417320"/>
          </a:xfrm>
          <a:prstGeom prst="rect">
            <a:avLst/>
          </a:prstGeom>
          <a:solidFill>
            <a:srgbClr val="5261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1709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Search formulation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41832" y="2039112"/>
            <a:ext cx="30175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States are often partial or complete assignments. Actions add or change assignments.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1600200"/>
            <a:ext cx="329184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600200"/>
            <a:ext cx="73152" cy="141732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709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CSP formulation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9432" y="2039112"/>
            <a:ext cx="30175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The structure of variables, domains and constraints is explicit and exploitable.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329184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600200"/>
            <a:ext cx="73152" cy="14173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1709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Benefit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57032" y="2039112"/>
            <a:ext cx="30175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General algorithms can solve many different problems without custom successor code.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011680" y="4297680"/>
            <a:ext cx="8138160" cy="777240"/>
          </a:xfrm>
          <a:prstGeom prst="rect">
            <a:avLst/>
          </a:prstGeom>
          <a:solidFill>
            <a:srgbClr val="FBECEF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CSP = Variables + Domains + Constraints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By the end of the unit, students should be able to...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1554480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554480"/>
            <a:ext cx="73152" cy="7772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6642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LO1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33272" y="199339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Formulate a problem as a CSP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554480"/>
            <a:ext cx="73152" cy="7772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6642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LO2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73952" y="199339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Build and interpret a constraint graph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2788920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788920"/>
            <a:ext cx="73152" cy="7772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289864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LO3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33272" y="322783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Apply backtracking search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2788920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788920"/>
            <a:ext cx="73152" cy="7772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89864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LO4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73952" y="322783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Use MRV, degree and LCV heuristics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68680" y="4023360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023360"/>
            <a:ext cx="73152" cy="7772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41330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LO5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33272" y="446227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Apply forward checking and AC-3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9360" y="4023360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023360"/>
            <a:ext cx="73152" cy="7772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41330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LO6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73952" y="446227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Explain min-conflicts local search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Formal definition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CSP defines a space of possible assignments.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554480"/>
            <a:ext cx="3474720" cy="59436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= {X1, X2, ..., Xn}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1554480"/>
            <a:ext cx="3474720" cy="59436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 = {D1, D2, ..., Dn}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92440" y="1554480"/>
            <a:ext cx="3474720" cy="59436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= {C1, C2, ..., Cm}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8680" y="2743200"/>
            <a:ext cx="347472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743200"/>
            <a:ext cx="73152" cy="1143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852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Variables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33272" y="3182112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Unknowns that must receive a value.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2743200"/>
            <a:ext cx="347472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274320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2852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Domains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45152" y="3182112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Allowed values for each variable.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92440" y="2743200"/>
            <a:ext cx="347472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743200"/>
            <a:ext cx="73152" cy="1143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2852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Constraints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57032" y="3182112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Restrictions on the values variables may take together.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00200" y="4983480"/>
            <a:ext cx="8961120" cy="594360"/>
          </a:xfrm>
          <a:prstGeom prst="rect">
            <a:avLst/>
          </a:prstGeom>
          <a:solidFill>
            <a:srgbClr val="FBECEF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solution is a complete assignment satisfying all constraints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coloring as a CSP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Classic example: adjacent regions must have different colors.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777240" cy="50292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554480"/>
            <a:ext cx="77724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77724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Q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3108960"/>
            <a:ext cx="822960" cy="502920"/>
          </a:xfrm>
          <a:prstGeom prst="rect">
            <a:avLst/>
          </a:prstGeom>
          <a:solidFill>
            <a:srgbClr val="FBECEF"/>
          </a:solidFill>
          <a:ln w="1397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82296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NSW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4617720"/>
            <a:ext cx="77724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5349240"/>
            <a:ext cx="777240" cy="50292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600200"/>
            <a:ext cx="4297680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600200"/>
            <a:ext cx="73152" cy="105156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7099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Variables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11112" y="2039112"/>
            <a:ext cx="4023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Australian regions: WA, NT, Q, SA, NSW, V, 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2926080"/>
            <a:ext cx="429768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926080"/>
            <a:ext cx="73152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30358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Domains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611112" y="3364992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{red, green, blue} for each region.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4160520"/>
            <a:ext cx="429768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4160520"/>
            <a:ext cx="73152" cy="9601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42702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Constraints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11112" y="4599432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Adjacent regions must have different colors.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 graph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graph representation for binary CSPs.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554480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 are variables. Edges are constraints between pairs of variables.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73152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377440"/>
            <a:ext cx="73152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834640"/>
            <a:ext cx="73152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4069080"/>
            <a:ext cx="73152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4480560"/>
            <a:ext cx="73152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NSW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5486400"/>
            <a:ext cx="73152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2743200"/>
            <a:ext cx="3383280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2743200"/>
            <a:ext cx="73152" cy="14630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Why useful?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62672" y="3182112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Graph structure tells us which variables interact and where propagation can prune domains.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Unary, binary and global constraints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Constraints may involve one, two or many variables.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1691640"/>
            <a:ext cx="315468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69164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80136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Unary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78992" y="21305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Constraint on one variable: X ≠ red.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1691640"/>
            <a:ext cx="315468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69164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80136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Binary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90872" y="21305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Constraint on two variables: X ≠ 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15468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69164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180136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Global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2752" y="2130552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Constraint on many variables: AllDifferent(X1,...,Xn).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80160" y="4160520"/>
            <a:ext cx="9784080" cy="77724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constraints are often easier to model and more efficient to propagate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Search in CSPs usually builds assignments.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1737360"/>
            <a:ext cx="333756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73736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8470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Consistent assignment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78992" y="217627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Does not violate any constraint among assigned variables.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1737360"/>
            <a:ext cx="333756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73736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8470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Complete assignment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9432" y="217627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Every variable has received a value.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1737360"/>
            <a:ext cx="333756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73736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18470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Solution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19872" y="217627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Complete and consistent assignment.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34640" y="4251960"/>
            <a:ext cx="6492240" cy="777240"/>
          </a:xfrm>
          <a:prstGeom prst="rect">
            <a:avLst/>
          </a:prstGeom>
          <a:solidFill>
            <a:srgbClr val="FBECEF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= complete + consistent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CSP as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simple formulation uses partial assignments as states.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09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1600200"/>
            <a:ext cx="3368040" cy="5638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Element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19600" y="1600200"/>
            <a:ext cx="6736080" cy="5638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CSP interpretation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2164080"/>
            <a:ext cx="3368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State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419600" y="2164080"/>
            <a:ext cx="67360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partial assignment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051560" y="2727960"/>
            <a:ext cx="3368040" cy="5638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Initial state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419600" y="2727960"/>
            <a:ext cx="6736080" cy="5638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empty assignment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051560" y="3291840"/>
            <a:ext cx="3368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Action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419600" y="3291840"/>
            <a:ext cx="67360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assign a value to an unassigned variable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1051560" y="3855720"/>
            <a:ext cx="3368040" cy="5638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Goal test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419600" y="3855720"/>
            <a:ext cx="6736080" cy="5638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complete and consistent assignment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1051560" y="4419600"/>
            <a:ext cx="3368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Path cost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4419600" y="4419600"/>
            <a:ext cx="67360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usually irrelevant or constant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1097280" y="5440680"/>
            <a:ext cx="9966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power is not the generic search formulation; it is the pruning enabled by constraints.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Backtracking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Depth-first search with one variable assigned at each level.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5486400" cy="3108960"/>
          </a:xfrm>
          <a:prstGeom prst="rect">
            <a:avLst/>
          </a:prstGeom>
          <a:solidFill>
            <a:srgbClr val="F8FAFC"/>
          </a:solidFill>
          <a:ln>
            <a:solidFill>
              <a:srgbClr val="D6DB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BACKTRACK(assignment):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assignment is complete: return assignment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← select-unassigned-variable()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value in order-domain-values(X):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value is consistent: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add X=value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← BACKTRACK(assignment)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result ≠ failure: return result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remove X=value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failure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040880" y="2240280"/>
            <a:ext cx="347472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2240280"/>
            <a:ext cx="73152" cy="128016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23500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Key idea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05472" y="267919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The algorithm abandons partial assignments as soon as they violate constraints.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3794760"/>
            <a:ext cx="3474720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3794760"/>
            <a:ext cx="73152" cy="105156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3904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Default structure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205472" y="4233672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Recursive depth-first construction of a solution.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Backtracking tree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Each level assigns one more variable.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600200"/>
            <a:ext cx="1005840" cy="45720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{}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788920"/>
            <a:ext cx="10972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WA=R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788920"/>
            <a:ext cx="10972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WA=G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2788920"/>
            <a:ext cx="10972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WA=B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2057400"/>
            <a:ext cx="-2514600" cy="731520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89320" y="2057400"/>
            <a:ext cx="45720" cy="731520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9320" y="2057400"/>
            <a:ext cx="2606040" cy="731520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011680" y="4069080"/>
            <a:ext cx="1097280" cy="45720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NT=G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4069080"/>
            <a:ext cx="1097280" cy="45720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NT=B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4069080"/>
            <a:ext cx="1097280" cy="457200"/>
          </a:xfrm>
          <a:prstGeom prst="rect">
            <a:avLst/>
          </a:prstGeom>
          <a:solidFill>
            <a:srgbClr val="FBECEF"/>
          </a:solidFill>
          <a:ln w="1397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NT=R 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3246120"/>
            <a:ext cx="-914400" cy="822960"/>
          </a:xfrm>
          <a:prstGeom prst="line">
            <a:avLst/>
          </a:prstGeom>
          <a:noFill/>
          <a:ln w="15240">
            <a:solidFill>
              <a:srgbClr val="52616B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474720" y="3246120"/>
            <a:ext cx="914400" cy="822960"/>
          </a:xfrm>
          <a:prstGeom prst="line">
            <a:avLst/>
          </a:prstGeom>
          <a:noFill/>
          <a:ln w="15240">
            <a:solidFill>
              <a:srgbClr val="52616B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035040" y="3246120"/>
            <a:ext cx="0" cy="822960"/>
          </a:xfrm>
          <a:prstGeom prst="line">
            <a:avLst/>
          </a:prstGeom>
          <a:noFill/>
          <a:ln w="15240">
            <a:solidFill>
              <a:srgbClr val="9D2235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6949440" y="4663440"/>
            <a:ext cx="3657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violations prune subtrees early.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 ordering heuristic: MRV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Minimum Remaining Values chooses the most constrained variable.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1645920"/>
            <a:ext cx="941832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variable with the fewest legal values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1777764" cy="42672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06564" y="2788920"/>
            <a:ext cx="1696956" cy="42672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Current domain size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3215640"/>
            <a:ext cx="1777764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WA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3606564" y="3215640"/>
            <a:ext cx="1696956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3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1828800" y="3642360"/>
            <a:ext cx="1777764" cy="42672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NT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3606564" y="3642360"/>
            <a:ext cx="1696956" cy="42672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1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1828800" y="4069080"/>
            <a:ext cx="1777764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Q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3606564" y="4069080"/>
            <a:ext cx="1696956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2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1828800" y="4495800"/>
            <a:ext cx="1777764" cy="42672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SA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3606564" y="4495800"/>
            <a:ext cx="1696956" cy="42672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1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1828800" y="4922520"/>
            <a:ext cx="1777764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NSW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606564" y="4922520"/>
            <a:ext cx="1696956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3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400800" y="3154680"/>
            <a:ext cx="3840480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154680"/>
            <a:ext cx="73152" cy="13716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32644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MRV decision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65392" y="359359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Choose NT or SA first because they have only one legal value left.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Tie-breaker: degree heuristic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When MRV ties, choose the variable involved in more constraints.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1801504" cy="5257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98784" y="1691640"/>
            <a:ext cx="1981655" cy="5257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Remaining values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80439" y="1691640"/>
            <a:ext cx="2251881" cy="5257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Unassigned neighbours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217420"/>
            <a:ext cx="1801504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NT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2898784" y="2217420"/>
            <a:ext cx="1981655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1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80439" y="2217420"/>
            <a:ext cx="2251881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3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1097280" y="2743200"/>
            <a:ext cx="1801504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SA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2898784" y="2743200"/>
            <a:ext cx="1981655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1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880439" y="2743200"/>
            <a:ext cx="2251881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5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1097280" y="3268980"/>
            <a:ext cx="1801504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Q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2898784" y="3268980"/>
            <a:ext cx="1981655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2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4880439" y="3268980"/>
            <a:ext cx="2251881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2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7635240" y="2194560"/>
            <a:ext cx="347472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194560"/>
            <a:ext cx="73152" cy="14173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9832" y="23042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Decision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99832" y="2633472"/>
            <a:ext cx="3200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If NT and SA tie under MRV, the degree heuristic selects SA because it constrains more unassigned variables.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60320" y="4663440"/>
            <a:ext cx="7040880" cy="685800"/>
          </a:xfrm>
          <a:prstGeom prst="rect">
            <a:avLst/>
          </a:prstGeom>
          <a:solidFill>
            <a:srgbClr val="FBECEF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MRV first · Degree as tie-breaker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ordering heuristic: LCV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Least Constraining Value keeps future options open.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996696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value that rules out the fewest choices for neighbours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2743200"/>
            <a:ext cx="2048256" cy="51435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Candidate value for 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91456" y="2743200"/>
            <a:ext cx="1609344" cy="51435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Values removed from neighbours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257550"/>
            <a:ext cx="2048256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red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4791456" y="3257550"/>
            <a:ext cx="1609344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5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2743200" y="3771900"/>
            <a:ext cx="2048256" cy="51435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green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4791456" y="3771900"/>
            <a:ext cx="1609344" cy="51435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2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2743200" y="4286250"/>
            <a:ext cx="2048256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blue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791456" y="4286250"/>
            <a:ext cx="1609344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4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132320" y="2926080"/>
            <a:ext cx="347472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292608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30358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LCV decision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96912" y="3364992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Try green first because it leaves the largest number of future options.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 during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After assigning a variable, propagate consequences.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1554480" cy="548640"/>
          </a:xfrm>
          <a:prstGeom prst="rect">
            <a:avLst/>
          </a:prstGeom>
          <a:solidFill>
            <a:srgbClr val="FBECEF"/>
          </a:solidFill>
          <a:ln w="1397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Assign X=red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2148840" cy="54864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Remove red from neighbours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743200"/>
            <a:ext cx="187452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F9A82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Detect empty domains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0" y="2743200"/>
            <a:ext cx="1554480" cy="548640"/>
          </a:xfrm>
          <a:prstGeom prst="rect">
            <a:avLst/>
          </a:prstGeom>
          <a:solidFill>
            <a:srgbClr val="FBECEF"/>
          </a:solidFill>
          <a:ln w="1397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Backtrack early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3017520"/>
            <a:ext cx="1005840" cy="0"/>
          </a:xfrm>
          <a:prstGeom prst="line">
            <a:avLst/>
          </a:prstGeom>
          <a:noFill/>
          <a:ln w="1905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06440" y="3017520"/>
            <a:ext cx="960120" cy="0"/>
          </a:xfrm>
          <a:prstGeom prst="line">
            <a:avLst/>
          </a:prstGeom>
          <a:noFill/>
          <a:ln w="1905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41080" y="3017520"/>
            <a:ext cx="777240" cy="0"/>
          </a:xfrm>
          <a:prstGeom prst="line">
            <a:avLst/>
          </a:prstGeom>
          <a:noFill/>
          <a:ln w="1905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97280" y="4617720"/>
            <a:ext cx="9875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reduces domains before the next recursive call.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 checking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Look one step ahead after each assignment.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10149840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X=v, delete inconsistent values from each unassigned neighbour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" y="2971800"/>
            <a:ext cx="310896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297180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30815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Works well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07592" y="3410712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Cheap and simple. Detects many failures early.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310896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971800"/>
            <a:ext cx="73152" cy="1234440"/>
          </a:xfrm>
          <a:prstGeom prst="rect">
            <a:avLst/>
          </a:prstGeom>
          <a:solidFill>
            <a:srgbClr val="F9A8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30815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Limitation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36592" y="3410712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Does not propagate consequences between two unassigned variables.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2971800"/>
            <a:ext cx="310896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297180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5592" y="30815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Use case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65592" y="3410712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 good default enhancement for backtracking search.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 consistency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An arc X→Y is consistent if every value of X has support in 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" y="1691640"/>
            <a:ext cx="9921240" cy="777240"/>
          </a:xfrm>
          <a:prstGeom prst="rect">
            <a:avLst/>
          </a:prstGeom>
          <a:solidFill>
            <a:srgbClr val="FBECEF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∀x ∈ D(X), ∃y ∈ D(Y) such that constraint(X,Y) holds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" y="3063240"/>
            <a:ext cx="457200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063240"/>
            <a:ext cx="73152" cy="1143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31729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Support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07592" y="3502152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 value has support if there is at least one compatible value in the neighbouring domain.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063240"/>
            <a:ext cx="457200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063240"/>
            <a:ext cx="73152" cy="1143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1729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Revision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65392" y="3502152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If a value has no support, delete it from the domain.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revising an arc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Constraint: X &lt; 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1280160" cy="6400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Before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1645920" cy="6400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Domain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D(X)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{1,2,3}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128016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D(Y)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560320" y="310896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{2}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663440" y="1645920"/>
            <a:ext cx="1352006" cy="61722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15446" y="1645920"/>
            <a:ext cx="1802674" cy="61722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263140"/>
            <a:ext cx="1352006" cy="6172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X=1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015446" y="2263140"/>
            <a:ext cx="1802674" cy="6172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supported by Y=2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4663440" y="2880360"/>
            <a:ext cx="1352006" cy="61722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X=2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015446" y="2880360"/>
            <a:ext cx="1802674" cy="61722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no support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4663440" y="3497580"/>
            <a:ext cx="1352006" cy="6172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X=3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6015446" y="3497580"/>
            <a:ext cx="1802674" cy="6172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no support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8275320" y="1828800"/>
            <a:ext cx="1415845" cy="6400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After revision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91165" y="1828800"/>
            <a:ext cx="1327355" cy="640080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Domain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75320" y="2468880"/>
            <a:ext cx="141584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D(X)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9691165" y="2468880"/>
            <a:ext cx="132735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{1}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275320" y="3108960"/>
            <a:ext cx="1415845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D(Y)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9691165" y="3108960"/>
            <a:ext cx="1327355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7"/>
                </a:solidFill>
              </a:rPr>
              <a:t>{2}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2194560" y="4937760"/>
            <a:ext cx="7680960" cy="59436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Remove values of X that cannot be extended to Y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AC-3 algorithm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Maintain a queue of arcs to revise.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19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600200"/>
            <a:ext cx="5440680" cy="3200400"/>
          </a:xfrm>
          <a:prstGeom prst="rect">
            <a:avLst/>
          </a:prstGeom>
          <a:solidFill>
            <a:srgbClr val="F8FAFC"/>
          </a:solidFill>
          <a:ln>
            <a:solidFill>
              <a:srgbClr val="D6DB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AC-3(csp):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 ← all arcs in the CSP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queue is not empty: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(Xi, Xj) ← pop(queue)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revise(Xi, Xj):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Di is empty: return failure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add all arcs (Xk, Xi) back to queue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success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2148840"/>
            <a:ext cx="384048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214884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5432" y="2258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Intuition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85432" y="258775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If a domain changes, neighbouring arcs may need to be checked again.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3657600"/>
            <a:ext cx="384048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65760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Output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85432" y="409651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Domains become arc-consistent, or an empty domain proves failure.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Backtracking + inference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The standard robust solver combines search and propagation.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1645920" cy="54864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Select variable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1645920" cy="54864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Order values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2743200"/>
            <a:ext cx="1143000" cy="548640"/>
          </a:xfrm>
          <a:prstGeom prst="rect">
            <a:avLst/>
          </a:prstGeom>
          <a:solidFill>
            <a:srgbClr val="FBECEF"/>
          </a:solidFill>
          <a:ln w="1397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Assign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0" y="2743200"/>
            <a:ext cx="141732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F9A82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Propagate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38360" y="2743200"/>
            <a:ext cx="1325880" cy="54864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Recurse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3017520"/>
            <a:ext cx="731520" cy="0"/>
          </a:xfrm>
          <a:prstGeom prst="line">
            <a:avLst/>
          </a:prstGeom>
          <a:noFill/>
          <a:ln w="1778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37760" y="3017520"/>
            <a:ext cx="731520" cy="0"/>
          </a:xfrm>
          <a:prstGeom prst="line">
            <a:avLst/>
          </a:prstGeom>
          <a:noFill/>
          <a:ln w="1778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12280" y="3017520"/>
            <a:ext cx="731520" cy="0"/>
          </a:xfrm>
          <a:prstGeom prst="line">
            <a:avLst/>
          </a:prstGeom>
          <a:noFill/>
          <a:ln w="1778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61120" y="3017520"/>
            <a:ext cx="777240" cy="0"/>
          </a:xfrm>
          <a:prstGeom prst="line">
            <a:avLst/>
          </a:prstGeom>
          <a:noFill/>
          <a:ln w="1778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554480" y="4572000"/>
            <a:ext cx="9052560" cy="685800"/>
          </a:xfrm>
          <a:prstGeom prst="rect">
            <a:avLst/>
          </a:prstGeom>
          <a:solidFill>
            <a:srgbClr val="FBECEF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MRV + Degree + LCV + Forward Checking / AC-3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N-Queens as a CSP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Place N queens so that no two attack each other.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72768" y="1600200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8256" y="1600200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3744" y="1600200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9232" y="1600200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600200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0208" y="1600200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5696" y="1600200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075688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72768" y="2075688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48256" y="2075688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3744" y="2075688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99232" y="2075688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075688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50208" y="2075688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5696" y="2075688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2551176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72768" y="2551176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48256" y="2551176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3744" y="2551176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9232" y="2551176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2551176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50208" y="2551176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25696" y="2551176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026664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72768" y="3026664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48256" y="3026664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23744" y="3026664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99232" y="3026664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3026664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50208" y="3026664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25696" y="3026664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3502152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72768" y="3502152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48256" y="3502152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23744" y="3502152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99232" y="3502152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0" y="3502152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50208" y="3502152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25696" y="3502152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" y="3977640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72768" y="3977640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48256" y="3977640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23744" y="3977640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99232" y="3977640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74720" y="3977640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50208" y="3977640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25696" y="3977640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80" y="4453128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72768" y="4453128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48256" y="4453128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23744" y="4453128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99232" y="4453128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74720" y="4453128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50208" y="4453128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5696" y="4453128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80" y="4928616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72768" y="4928616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48256" y="4928616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23744" y="4928616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99232" y="4928616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4720" y="4928616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950208" y="4928616"/>
            <a:ext cx="47548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25696" y="4928616"/>
            <a:ext cx="475488" cy="475488"/>
          </a:xfrm>
          <a:prstGeom prst="rect">
            <a:avLst/>
          </a:prstGeom>
          <a:solidFill>
            <a:srgbClr val="EAF4FB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97280" y="1627632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Q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2999232" y="2103120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Q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4425696" y="257860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Q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3474720" y="305409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Q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2048256" y="3529584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Q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3950208" y="4005072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Q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1572768" y="4480560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Q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2523744" y="495604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235"/>
                </a:solidFill>
              </a:rPr>
              <a:t>Q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669280" y="1737360"/>
            <a:ext cx="4663440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69280" y="1737360"/>
            <a:ext cx="73152" cy="105156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33872" y="18470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Variables</a:t>
            </a:r>
            <a:endParaRPr lang="en-US" sz="1350" dirty="0"/>
          </a:p>
        </p:txBody>
      </p:sp>
      <p:sp>
        <p:nvSpPr>
          <p:cNvPr id="86" name="Text 84"/>
          <p:cNvSpPr/>
          <p:nvPr/>
        </p:nvSpPr>
        <p:spPr>
          <a:xfrm>
            <a:off x="5833872" y="2176272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One variable per column: Qi = row position of queen in column i.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5669280" y="2971800"/>
            <a:ext cx="466344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69280" y="2971800"/>
            <a:ext cx="73152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33872" y="30815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Domains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5833872" y="341071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Rows {1, ..., N}.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5669280" y="4023360"/>
            <a:ext cx="4663440" cy="100584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69280" y="4023360"/>
            <a:ext cx="73152" cy="10058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33872" y="41330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Constraints</a:t>
            </a:r>
            <a:endParaRPr lang="en-US" sz="1350" dirty="0"/>
          </a:p>
        </p:txBody>
      </p:sp>
      <p:sp>
        <p:nvSpPr>
          <p:cNvPr id="94" name="Text 92"/>
          <p:cNvSpPr/>
          <p:nvPr/>
        </p:nvSpPr>
        <p:spPr>
          <a:xfrm>
            <a:off x="5833872" y="44622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No same row and no same diagonal for any pair of queens.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Sudoku as a CSP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large example built around AllDifferent constraints.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51560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1096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40864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0632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30168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9936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9704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184708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1328" y="1847088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1096" y="1847088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0864" y="184708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70632" y="1847088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847088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30168" y="184708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59936" y="1847088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9704" y="1847088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227685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81328" y="227685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11096" y="227685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40864" y="227685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70632" y="227685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227685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0168" y="227685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59936" y="227685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9704" y="227685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1560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81328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11096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40864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70632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30168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59936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9704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" y="3136392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81328" y="3136392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11096" y="3136392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40864" y="3136392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70632" y="3136392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0" y="3136392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30168" y="3136392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59936" y="3136392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89704" y="3136392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1560" y="356616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81328" y="3566160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11096" y="3566160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40864" y="356616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70632" y="3566160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0" y="3566160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30168" y="356616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059936" y="3566160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89704" y="3566160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51560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81328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11096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40864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70632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00400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30168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59936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89704" y="399592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1560" y="442569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481328" y="442569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911096" y="442569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40864" y="442569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70632" y="442569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0" y="442569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30168" y="442569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059936" y="442569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489704" y="4425696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" y="485546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481328" y="4855464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11096" y="4855464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40864" y="485546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70632" y="4855464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00400" y="4855464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30168" y="485546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059936" y="4855464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489704" y="4855464"/>
            <a:ext cx="429768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6DB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" y="1444752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5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1481328" y="1444752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3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2770632" y="1444752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7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051560" y="1874520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6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2340864" y="1874520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1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2770632" y="1874520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9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3200400" y="1874520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5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1481328" y="2304288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9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1911096" y="2304288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8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4059936" y="2304288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2235"/>
                </a:solidFill>
              </a:rPr>
              <a:t>6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5760720" y="1691640"/>
            <a:ext cx="457200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760720" y="1691640"/>
            <a:ext cx="73152" cy="7772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25312" y="18013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Variables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5925312" y="21305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81 cells.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5760720" y="2651760"/>
            <a:ext cx="457200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760720" y="2651760"/>
            <a:ext cx="73152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925312" y="27614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Domains</a:t>
            </a:r>
            <a:endParaRPr lang="en-US" sz="1350" dirty="0"/>
          </a:p>
        </p:txBody>
      </p:sp>
      <p:sp>
        <p:nvSpPr>
          <p:cNvPr id="109" name="Text 107"/>
          <p:cNvSpPr/>
          <p:nvPr/>
        </p:nvSpPr>
        <p:spPr>
          <a:xfrm>
            <a:off x="5925312" y="309067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Digits 1 to 9, restricted by givens.</a:t>
            </a:r>
            <a:endParaRPr lang="en-US" sz="1150" dirty="0"/>
          </a:p>
        </p:txBody>
      </p:sp>
      <p:sp>
        <p:nvSpPr>
          <p:cNvPr id="110" name="Shape 108"/>
          <p:cNvSpPr/>
          <p:nvPr/>
        </p:nvSpPr>
        <p:spPr>
          <a:xfrm>
            <a:off x="5760720" y="3703320"/>
            <a:ext cx="4572000" cy="100584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760720" y="3703320"/>
            <a:ext cx="73152" cy="10058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925312" y="38130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Constraints</a:t>
            </a:r>
            <a:endParaRPr lang="en-US" sz="1350" dirty="0"/>
          </a:p>
        </p:txBody>
      </p:sp>
      <p:sp>
        <p:nvSpPr>
          <p:cNvPr id="113" name="Text 111"/>
          <p:cNvSpPr/>
          <p:nvPr/>
        </p:nvSpPr>
        <p:spPr>
          <a:xfrm>
            <a:off x="5925312" y="414223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AllDifferent on each row, column and 3×3 block.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search for CSPs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Sometimes we search over complete assignments and repair conflicts.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600200"/>
            <a:ext cx="996696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complete assignment → iteratively reduce conflicts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2834640"/>
            <a:ext cx="320040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834640"/>
            <a:ext cx="73152" cy="109728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944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State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70432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A complete assignment, possibly inconsistent.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2834640"/>
            <a:ext cx="320040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2834640"/>
            <a:ext cx="73152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2944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Move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5152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Change the value of one variable.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2834640"/>
            <a:ext cx="320040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2834640"/>
            <a:ext cx="73152" cy="10972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9872" y="2944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Objective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19872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Minimize the number of violated constraints.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Min-conflicts heuristic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A powerful local-search method for large CSPs.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5532120" cy="2880360"/>
          </a:xfrm>
          <a:prstGeom prst="rect">
            <a:avLst/>
          </a:prstGeom>
          <a:solidFill>
            <a:srgbClr val="F8FAFC"/>
          </a:solidFill>
          <a:ln>
            <a:solidFill>
              <a:srgbClr val="D6DB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min-conflicts(csp, max_steps):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← random complete assignment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1..max_steps: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current is a solution: return current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← randomly select a conflicted variable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← value that minimizes conflicts for X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X = v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failure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6949440" y="2148840"/>
            <a:ext cx="356616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214884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22585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Strength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14032" y="2587752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Very effective for large, loosely constrained problems such as large N-Queens.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3566160"/>
            <a:ext cx="356616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3566160"/>
            <a:ext cx="73152" cy="1143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36758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Weakness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14032" y="4005072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Incomplete: may fail if it gets stuck or exceeds the step limit.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CSP versus state-space 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Both are search, but they expose different structure.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554480"/>
            <a:ext cx="2489982" cy="649224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Aspect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3221502" y="1554480"/>
            <a:ext cx="4149969" cy="649224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State-space search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7371471" y="1554480"/>
            <a:ext cx="4149969" cy="649224"/>
          </a:xfrm>
          <a:prstGeom prst="rect">
            <a:avLst/>
          </a:prstGeom>
          <a:solidFill>
            <a:srgbClr val="102A43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CSP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731520" y="2203704"/>
            <a:ext cx="248998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Goal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3221502" y="2203704"/>
            <a:ext cx="4149969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path to a goal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7371471" y="2203704"/>
            <a:ext cx="4149969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consistent complete assignment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731520" y="2852928"/>
            <a:ext cx="2489982" cy="649224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State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3221502" y="2852928"/>
            <a:ext cx="4149969" cy="649224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world configuration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7371471" y="2852928"/>
            <a:ext cx="4149969" cy="649224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partial/complete assignment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731520" y="3502152"/>
            <a:ext cx="248998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Knowledge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3221502" y="3502152"/>
            <a:ext cx="4149969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successor function, cost, heuristic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7371471" y="3502152"/>
            <a:ext cx="4149969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variables, domains, constraints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731520" y="4151376"/>
            <a:ext cx="2489982" cy="649224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Pruning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3221502" y="4151376"/>
            <a:ext cx="4149969" cy="649224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repeated-state control, heuristics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7371471" y="4151376"/>
            <a:ext cx="4149969" cy="649224"/>
          </a:xfrm>
          <a:prstGeom prst="rect">
            <a:avLst/>
          </a:prstGeom>
          <a:solidFill>
            <a:srgbClr val="F8FAFC"/>
          </a:solidFill>
          <a:ln w="6350">
            <a:solidFill>
              <a:srgbClr val="D6DBE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consistency and propagation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1097280" y="5349240"/>
            <a:ext cx="9966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CSPs are especially useful when the solution is an assignment rather than a sequence of actions.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checklist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How to model a new CSP.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438912" cy="438912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variables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438912" cy="438912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each domain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1645920"/>
            <a:ext cx="438912" cy="438912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1540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constraints precisely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337560"/>
            <a:ext cx="438912" cy="438912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 the constraint graph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3337560"/>
            <a:ext cx="438912" cy="438912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inference level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3337560"/>
            <a:ext cx="438912" cy="438912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1540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search strategy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4983480"/>
            <a:ext cx="8503920" cy="640080"/>
          </a:xfrm>
          <a:prstGeom prst="rect">
            <a:avLst/>
          </a:prstGeom>
          <a:solidFill>
            <a:srgbClr val="FBECEF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modelling is often more important than clever search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modelling errors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Most CSP mistakes happen before the algorithm starts.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1600200"/>
            <a:ext cx="32918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600200"/>
            <a:ext cx="73152" cy="1234440"/>
          </a:xfrm>
          <a:prstGeom prst="rect">
            <a:avLst/>
          </a:prstGeom>
          <a:solidFill>
            <a:srgbClr val="F9A8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709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Too many variables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78992" y="203911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Using one variable per possible fact when a compact representation exists.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1600200"/>
            <a:ext cx="32918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60020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709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Wrong domains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9432" y="203911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Forgetting values, allowing impossible values, or encoding constraints as domains.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1600200"/>
            <a:ext cx="32918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600200"/>
            <a:ext cx="73152" cy="123444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1709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Vague constraints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19872" y="203911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Writing constraints in natural language without formal compatibility conditions.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0" y="3886200"/>
            <a:ext cx="32918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886200"/>
            <a:ext cx="73152" cy="1234440"/>
          </a:xfrm>
          <a:prstGeom prst="rect">
            <a:avLst/>
          </a:prstGeom>
          <a:solidFill>
            <a:srgbClr val="5E35B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995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Hidden objective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907792" y="432511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Trying to optimize when the problem only asks for satisfaction, or vice versa.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3886200"/>
            <a:ext cx="32918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3886200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995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No graph insight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28232" y="432511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Ignoring structure that could guide variable ordering and propagation.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activity: mini map coloring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Students formulate and solve a small CSP.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28800" y="2011680"/>
            <a:ext cx="6400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645920"/>
            <a:ext cx="6400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011680"/>
            <a:ext cx="6400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657600"/>
            <a:ext cx="6400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6400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011680"/>
            <a:ext cx="3840480" cy="1645920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011680"/>
            <a:ext cx="73152" cy="164592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1214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Task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48272" y="2450592"/>
            <a:ext cx="3566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Use colors {R,G,B}. Adjacent nodes must be different. Apply MRV and forward checking for two steps.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What students should remember.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29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384048" cy="384048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490472"/>
            <a:ext cx="9418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CSPs model problems as variables, domains and constraints.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384048" cy="384048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148840"/>
            <a:ext cx="9418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solution is a complete and consistent assignment.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" y="2779776"/>
            <a:ext cx="384048" cy="384048"/>
          </a:xfrm>
          <a:prstGeom prst="rect">
            <a:avLst/>
          </a:prstGeom>
          <a:solidFill>
            <a:srgbClr val="0072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807208"/>
            <a:ext cx="9418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Backtracking is the basic systematic solver.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05840" y="3438144"/>
            <a:ext cx="384048" cy="384048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465576"/>
            <a:ext cx="9418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MRV, degree and LCV improve the order of search.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4096512"/>
            <a:ext cx="384048" cy="384048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123944"/>
            <a:ext cx="9418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checking and AC-3 prune domains through inference.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384048" cy="384048"/>
          </a:xfrm>
          <a:prstGeom prst="rect">
            <a:avLst/>
          </a:prstGeom>
          <a:solidFill>
            <a:srgbClr val="9D22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782312"/>
            <a:ext cx="9418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Min-conflicts offers a powerful local-search alternative.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Mini-test preview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Five quick questions for self-check.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461772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600200"/>
            <a:ext cx="73152" cy="86868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17099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Q1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61872" y="2039112"/>
            <a:ext cx="4343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What are the three components of a CSP?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461772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00200"/>
            <a:ext cx="73152" cy="8686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7099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Q2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73952" y="2039112"/>
            <a:ext cx="4343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What is the difference between consistency and completeness?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97280" y="2926080"/>
            <a:ext cx="461772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2926080"/>
            <a:ext cx="73152" cy="86868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03580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Q3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61872" y="3364992"/>
            <a:ext cx="4343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What does MRV choose?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2926080"/>
            <a:ext cx="461772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926080"/>
            <a:ext cx="73152" cy="86868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03580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Q4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73952" y="3364992"/>
            <a:ext cx="4343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When does AC-3 remove a value from a domain?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97280" y="4251960"/>
            <a:ext cx="461772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4251960"/>
            <a:ext cx="73152" cy="86868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1872" y="436168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Q5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261872" y="4690872"/>
            <a:ext cx="4343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Why is min-conflicts not complete?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D22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0072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2235"/>
                </a:solidFill>
              </a:rPr>
              <a:t>UNIT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6537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8"/>
                </a:solidFill>
              </a:rPr>
              <a:t>Intelligent Systems · ESI Ciudad Real · UCLM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to Unit 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042416"/>
            <a:ext cx="1325880" cy="0"/>
          </a:xfrm>
          <a:prstGeom prst="line">
            <a:avLst/>
          </a:prstGeom>
          <a:noFill/>
          <a:ln w="381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Next: when another agent works against us.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164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2235"/>
                </a:solidFill>
              </a:rPr>
              <a:t>31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4754880" cy="73152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CSP: satisfy constraints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4754880" cy="731520"/>
          </a:xfrm>
          <a:prstGeom prst="rect">
            <a:avLst/>
          </a:prstGeom>
          <a:solidFill>
            <a:srgbClr val="FBECEF"/>
          </a:solidFill>
          <a:ln w="12700">
            <a:solidFill>
              <a:srgbClr val="BFD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Adversarial search: choose actions against an opponent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3429000"/>
            <a:ext cx="1828800" cy="502920"/>
          </a:xfrm>
          <a:prstGeom prst="rect">
            <a:avLst/>
          </a:prstGeom>
          <a:solidFill>
            <a:srgbClr val="EAF4FB"/>
          </a:solidFill>
          <a:ln w="13970">
            <a:solidFill>
              <a:srgbClr val="0072B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single decision maker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26680" y="3429000"/>
            <a:ext cx="1828800" cy="502920"/>
          </a:xfrm>
          <a:prstGeom prst="rect">
            <a:avLst/>
          </a:prstGeom>
          <a:solidFill>
            <a:srgbClr val="FBECEF"/>
          </a:solidFill>
          <a:ln w="13970">
            <a:solidFill>
              <a:srgbClr val="9D223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two-player games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657600"/>
            <a:ext cx="3154680" cy="0"/>
          </a:xfrm>
          <a:prstGeom prst="line">
            <a:avLst/>
          </a:prstGeom>
          <a:noFill/>
          <a:ln w="1905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920240" y="4983480"/>
            <a:ext cx="8412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 introduces minimax, alpha-beta pruning and game-playing agents.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Universidad de Castilla-La Mancha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4. Constraint Satisfaction Problems</dc:title>
  <dc:subject>Intelligent Systems - Unit 4</dc:subject>
  <dc:creator>Rubén Juárez Cádiz</dc:creator>
  <cp:lastModifiedBy>Rubén Juárez Cádiz</cp:lastModifiedBy>
  <cp:revision>1</cp:revision>
  <dcterms:created xsi:type="dcterms:W3CDTF">2026-09-23T13:46:45Z</dcterms:created>
  <dcterms:modified xsi:type="dcterms:W3CDTF">2026-09-23T13:46:45Z</dcterms:modified>
</cp:coreProperties>
</file>