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822960"/>
            <a:ext cx="4389120" cy="4389120"/>
          </a:xfrm>
          <a:prstGeom prst="arc">
            <a:avLst/>
          </a:prstGeom>
          <a:noFill/>
          <a:ln w="25400">
            <a:solidFill>
              <a:srgbClr val="48CAE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3291840"/>
            <a:ext cx="4754880" cy="4754880"/>
          </a:xfrm>
          <a:prstGeom prst="arc">
            <a:avLst/>
          </a:prstGeom>
          <a:noFill/>
          <a:ln w="254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Adversarial Search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06654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 · Alpha-Beta Pruning · Evaluation Functions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89720" y="1097280"/>
            <a:ext cx="-777240" cy="131216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9720" y="1097280"/>
            <a:ext cx="777240" cy="131216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455164"/>
            <a:ext cx="-404165" cy="131216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2455164"/>
            <a:ext cx="404165" cy="131216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2455164"/>
            <a:ext cx="-404165" cy="131216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66960" y="2455164"/>
            <a:ext cx="404165" cy="131216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91440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79408" y="103327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83880" y="2272284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239115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738360" y="2272284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39115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07147" y="363016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25435" y="373989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15477" y="363016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33765" y="373989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61627" y="363016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9915" y="373989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169957" y="363016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88245" y="373989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" y="618134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9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Escuela Superior de Informática · UCLM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adversarial search?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intelligent systems must act while another agent tries to prevent success.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352044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61848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Single-agent search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0392" y="2057400"/>
            <a:ext cx="3191256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environment is usually passive: the agent chooses actions to reach a goal.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370832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417320"/>
            <a:ext cx="352044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161848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search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35424" y="2057400"/>
            <a:ext cx="3191256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agent selects actions too, often with conflicting objectives.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065008" y="141732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FB8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1417320"/>
            <a:ext cx="3429000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6184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under conflict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2057400"/>
            <a:ext cx="3099816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must reason about what the opponent will do next.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777240" y="4892040"/>
            <a:ext cx="2528316" cy="566928"/>
          </a:xfrm>
          <a:prstGeom prst="roundRect">
            <a:avLst>
              <a:gd name="adj" fmla="val 12903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5056632"/>
            <a:ext cx="24185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tree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51860" y="4892040"/>
            <a:ext cx="2528316" cy="566928"/>
          </a:xfrm>
          <a:prstGeom prst="roundRect">
            <a:avLst>
              <a:gd name="adj" fmla="val 1290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6724" y="5056632"/>
            <a:ext cx="24185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model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4892040"/>
            <a:ext cx="2528316" cy="566928"/>
          </a:xfrm>
          <a:prstGeom prst="roundRect">
            <a:avLst>
              <a:gd name="adj" fmla="val 12903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5056632"/>
            <a:ext cx="24185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01100" y="4892040"/>
            <a:ext cx="2528316" cy="566928"/>
          </a:xfrm>
          <a:prstGeom prst="roundRect">
            <a:avLst>
              <a:gd name="adj" fmla="val 12903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55964" y="5056632"/>
            <a:ext cx="24185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it fits in the course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 extends state-space search to competitive environments.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2971800"/>
            <a:ext cx="10058400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9536" y="2871216"/>
            <a:ext cx="201168" cy="20116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71216" y="2871216"/>
            <a:ext cx="201168" cy="20116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82896" y="2871216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94576" y="2871216"/>
            <a:ext cx="201168" cy="20116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06256" y="2871216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917936" y="28712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7844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60920" y="2057400"/>
            <a:ext cx="1371600" cy="1051560"/>
          </a:xfrm>
          <a:prstGeom prst="chevron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2350008"/>
            <a:ext cx="10515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114800"/>
            <a:ext cx="96926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keep states, actions, transition models and costs.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add other agents whose decisions change the outcome.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solution is no longer a path: it becomes a strategy.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this unit, students should be able to: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475488" cy="47548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54480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490472"/>
            <a:ext cx="4663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deterministic two-player games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377440"/>
            <a:ext cx="475488" cy="47548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514600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450592"/>
            <a:ext cx="4663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and evaluate game trees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475488" cy="47548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474720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3410712"/>
            <a:ext cx="4663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minimax correctly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297680"/>
            <a:ext cx="475488" cy="47548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4434840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4370832"/>
            <a:ext cx="4663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utility and evaluation functions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1417320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1554480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1490472"/>
            <a:ext cx="4663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cutoff depth in large games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377440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2514600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2450592"/>
            <a:ext cx="4663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alpha-beta pruning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3337560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3474720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410712"/>
            <a:ext cx="4663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move ordering and complexity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4297680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4434840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4370832"/>
            <a:ext cx="4663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game search to real AI systems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0" y="137160"/>
            <a:ext cx="12191695" cy="6473952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Games as Search Problems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passive environments to strategic interaction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09760" y="1371600"/>
            <a:ext cx="-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1371600"/>
            <a:ext cx="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2651760"/>
            <a:ext cx="-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651760"/>
            <a:ext cx="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2651760"/>
            <a:ext cx="-36576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2651760"/>
            <a:ext cx="73152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1887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search to game search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change is that the agent does not control all actions.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4937760" cy="420624"/>
          </a:xfrm>
          <a:prstGeom prst="roundRect">
            <a:avLst>
              <a:gd name="adj" fmla="val 17391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453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State-space search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92240" y="1417320"/>
            <a:ext cx="4937760" cy="420624"/>
          </a:xfrm>
          <a:prstGeom prst="roundRect">
            <a:avLst>
              <a:gd name="adj" fmla="val 1739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5453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search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448056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agent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 test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Path cost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Solution = sequence of actions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Example: Loopover, route finding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057400"/>
            <a:ext cx="448056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Two or more agents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Terminal utility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Strategic choice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Solution = strategy/policy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Example: chess, tic-tac-toe, checkers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49240" y="2743200"/>
            <a:ext cx="914400" cy="5029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actions matter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Classical game assumptions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model is deliberately simple, but powerful.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14630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256032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642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Two-player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103120"/>
            <a:ext cx="223113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are two agents: MAX and MIN.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611880" y="14630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463040"/>
            <a:ext cx="256032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6642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Zero-sum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76472" y="2103120"/>
            <a:ext cx="223113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good for MAX is bad for MIN.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463040"/>
            <a:ext cx="2560320" cy="1097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16642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2103120"/>
            <a:ext cx="223113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action has one defined result.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9189720" y="14630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463040"/>
            <a:ext cx="256032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54312" y="16642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information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54312" y="2103120"/>
            <a:ext cx="223113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players can see the full state.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2788920" y="4160520"/>
            <a:ext cx="662940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4325112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Utility(MAX) = - Utility(MIN)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 definition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deterministic two-player game can be specified using five elements.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160020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7048" y="1828800"/>
            <a:ext cx="594360" cy="59436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2011680"/>
            <a:ext cx="18288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state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33272" y="3154680"/>
            <a:ext cx="159105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position and player to move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160020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67328" y="1828800"/>
            <a:ext cx="594360" cy="59436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011680"/>
            <a:ext cx="18288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Actions(s)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73552" y="3154680"/>
            <a:ext cx="159105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moves in state 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49240" y="160020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07608" y="1828800"/>
            <a:ext cx="59436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011680"/>
            <a:ext cx="18288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Result(s,a)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13832" y="3154680"/>
            <a:ext cx="159105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after applying action 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160020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B85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1828800"/>
            <a:ext cx="594360" cy="594360"/>
          </a:xfrm>
          <a:prstGeom prst="ellipse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2011680"/>
            <a:ext cx="18288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Terminal-Test(s)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54112" y="3154680"/>
            <a:ext cx="159105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the game has ended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29800" y="160020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88168" y="1828800"/>
            <a:ext cx="594360" cy="5943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98480" y="2011680"/>
            <a:ext cx="18288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96696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Utility(s)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94392" y="3154680"/>
            <a:ext cx="159105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of terminal state for MAX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5074920"/>
            <a:ext cx="10241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game analogue of problem formulation in state-space search.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 tree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game tree alternates decision levels for MAX and MIN.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-1143000" cy="12216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600200"/>
            <a:ext cx="1143000" cy="12216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2867558"/>
            <a:ext cx="-594360" cy="12216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2867558"/>
            <a:ext cx="594360" cy="12216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867558"/>
            <a:ext cx="-594360" cy="12216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867558"/>
            <a:ext cx="594360" cy="12216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141732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153619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2684678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7088" y="2803550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2684678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33088" y="2803550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61872" y="3952037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06176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50592" y="3952037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406176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47872" y="3952037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406176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6592" y="3952037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061765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146304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1463040"/>
            <a:ext cx="438912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166420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56832" y="2103120"/>
            <a:ext cx="405993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 and player to move.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6492240" y="251460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FB85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2514600"/>
            <a:ext cx="4389120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271576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nodes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656832" y="3154680"/>
            <a:ext cx="405993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game positions.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6492240" y="356616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3566160"/>
            <a:ext cx="4389120" cy="1097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56832" y="376732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656832" y="4206240"/>
            <a:ext cx="405993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or cutoff positions with values.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6492240" y="461772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0" y="4617720"/>
            <a:ext cx="438912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56832" y="481888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Branching factor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656832" y="5257800"/>
            <a:ext cx="405993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legal actions from a state.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Terminal utility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Leaves are evaluated from MAX’s point of view.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DCFCE7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64792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wins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121408"/>
            <a:ext cx="2468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 = +1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0876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FEE2E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764792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wins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2121408"/>
            <a:ext cx="2468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 = −1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50876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E0F2FE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764792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49640" y="2121408"/>
            <a:ext cx="2468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 = 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45920" y="3749040"/>
            <a:ext cx="886968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91363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= choose the action with the best guaranteed utility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0" y="137160"/>
            <a:ext cx="12191695" cy="64739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Minimax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the best move against an optimal opponent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09760" y="1371600"/>
            <a:ext cx="-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1371600"/>
            <a:ext cx="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2651760"/>
            <a:ext cx="-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651760"/>
            <a:ext cx="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2651760"/>
            <a:ext cx="-36576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2651760"/>
            <a:ext cx="73152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1887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minimax idea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assumes that MIN will always choose the worst continuation for MAX.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14700" y="1554480"/>
            <a:ext cx="-1223010" cy="1281989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14700" y="1554480"/>
            <a:ext cx="1223010" cy="1281989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91690" y="2882189"/>
            <a:ext cx="-635965" cy="1281989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1690" y="2882189"/>
            <a:ext cx="635965" cy="1281989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7710" y="2882189"/>
            <a:ext cx="-635965" cy="1281989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7710" y="2882189"/>
            <a:ext cx="635965" cy="1281989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86100" y="137160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4388" y="149047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63090" y="2699309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81378" y="2818181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09110" y="2699309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7398" y="2818181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54557" y="402701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72845" y="413674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26487" y="402701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4775" y="413674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00577" y="402701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8865" y="413674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72507" y="402701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0795" y="413674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150876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508760"/>
            <a:ext cx="438912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170992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565392" y="2148840"/>
            <a:ext cx="40599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the move with the highest resulting value.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6400800" y="288036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880360"/>
            <a:ext cx="438912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308152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565392" y="3520440"/>
            <a:ext cx="40599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the move with the lowest resulting value for MAX.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6400800" y="425196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4251960"/>
            <a:ext cx="4389120" cy="1097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445312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 value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565392" y="4892040"/>
            <a:ext cx="40599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obtained when both players play optimally.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 and MIN levels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are propagated upward with different rules.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97280" y="146304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276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 node:  value(s) = max value(successors)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6276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 node:  value(s) = min value(successors)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35040" y="2971800"/>
            <a:ext cx="-1371600" cy="91988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971800"/>
            <a:ext cx="1371600" cy="91988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937406"/>
            <a:ext cx="-713232" cy="91988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3937406"/>
            <a:ext cx="713232" cy="91988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3937406"/>
            <a:ext cx="-713232" cy="91988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3937406"/>
            <a:ext cx="713232" cy="91988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78892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4728" y="290779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3754526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3873398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78040" y="3754526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6328" y="3873398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4720133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482986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75504" y="4720133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482986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4720133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482986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18704" y="4720133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6992" y="482986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74520" y="5806440"/>
            <a:ext cx="8321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Bottom-up evaluation: terminal values first, then internal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step 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the MIN nodes first.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40680" y="1417320"/>
            <a:ext cx="-1805940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1417320"/>
            <a:ext cx="1805940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4740" y="2835554"/>
            <a:ext cx="-939089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4740" y="2835554"/>
            <a:ext cx="939089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46620" y="2835554"/>
            <a:ext cx="-939089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46620" y="2835554"/>
            <a:ext cx="939089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23444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35331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06140" y="2652674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4428" y="277154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18020" y="2652674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36308" y="277154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94483" y="4070909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2771" y="41806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72661" y="4070909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0949" y="41806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06363" y="4070909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4651" y="41806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84541" y="4070909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2829" y="41806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502920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029200"/>
            <a:ext cx="365760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23036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MIN node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87552" y="5669280"/>
            <a:ext cx="332841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min(3, 12) = 3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7680960" y="502920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5029200"/>
            <a:ext cx="365760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45552" y="523036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MIN node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845552" y="5669280"/>
            <a:ext cx="332841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min(8, 2) = 2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step 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chooses the best guaranteed value.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40680" y="1417320"/>
            <a:ext cx="-1805940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1417320"/>
            <a:ext cx="1805940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4740" y="2835554"/>
            <a:ext cx="-939089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4740" y="2835554"/>
            <a:ext cx="939089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46620" y="2835554"/>
            <a:ext cx="-939089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46620" y="2835554"/>
            <a:ext cx="939089" cy="1372514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23444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35331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06140" y="2652674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4428" y="277154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18020" y="2652674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36308" y="277154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94483" y="4070909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2771" y="41806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72661" y="4070909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0949" y="41806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06363" y="4070909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4651" y="41806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84541" y="4070909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2829" y="4180637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507492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523951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 chooses max(3, 2) = 3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Minimax pseudocode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formulation for deterministic games.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10561320" cy="5029200"/>
          </a:xfrm>
          <a:prstGeom prst="roundRect">
            <a:avLst>
              <a:gd name="adj" fmla="val 1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490472"/>
            <a:ext cx="10232136" cy="4700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MINIMAX-DECISION(state):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argmax_a MIN-VALUE(Result(state,a))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MAX-VALUE(state):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Terminal-Test(state): return Utility(state)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-∞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action a in Actions(state):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 = max(v, MIN-VALUE(Result(state,a)))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MIN-VALUE(state):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Terminal-Test(state): return Utility(state)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+∞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action a in Actions(state):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 = min(v, MAX-VALUE(Result(state,a)))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</a:t>
            </a:r>
            <a:endParaRPr lang="en-US" sz="1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minimax returns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returns an action, not just a number.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329184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1848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 value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057400"/>
            <a:ext cx="296265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theoretical value of the position if both players play optimally.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417320"/>
            <a:ext cx="3291840" cy="1097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1848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move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2057400"/>
            <a:ext cx="296265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action at the root that leads to that value.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FB8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417320"/>
            <a:ext cx="3291840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161848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11312" y="2057400"/>
            <a:ext cx="296265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conditional plan for future states, not only the first move.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1920240" y="416052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432511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 the root: choose argmax over successor minimax values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Complexity of minimax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is complete and optimal under the model, but expensive.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51560" y="155448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19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Time: O(b^m)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19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Space: O(bm)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719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 = search depth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971800"/>
            <a:ext cx="97840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 = average branching factor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 = maximum depth of the game tree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real games, the complete tree is usually impossible to explore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need approximations: depth cutoff and evaluation functions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0" y="137160"/>
            <a:ext cx="12191695" cy="64739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Functions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Approximating utility when the tree is too large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09760" y="1371600"/>
            <a:ext cx="-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1371600"/>
            <a:ext cx="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2651760"/>
            <a:ext cx="-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651760"/>
            <a:ext cx="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2651760"/>
            <a:ext cx="-36576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2651760"/>
            <a:ext cx="73152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1887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evaluation functions?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games are too large to search until terminal states.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3657600" cy="1097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1848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search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057400"/>
            <a:ext cx="332841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terminal positions and use true utility.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417320"/>
            <a:ext cx="365760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61848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Cutoff search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90872" y="2057400"/>
            <a:ext cx="332841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at depth d and estimate the position.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229600" y="141732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FB8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417320"/>
            <a:ext cx="3154680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1618488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function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94192" y="2057400"/>
            <a:ext cx="282549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a non-terminal state to a numerical estimate.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1874520" y="43434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45079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Eval(s) ≈ Utility(s) if the game continued optimally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Cutoff depth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terminal test with a cutoff test.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-1188720" cy="1417777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80160"/>
            <a:ext cx="1188720" cy="1417777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743657"/>
            <a:ext cx="-618134" cy="1417777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743657"/>
            <a:ext cx="618134" cy="1417777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743657"/>
            <a:ext cx="-618134" cy="1417777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743657"/>
            <a:ext cx="618134" cy="1417777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109728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1528" y="121615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74520" y="2560777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92808" y="2679649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51960" y="2560777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2679649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83818" y="402427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2106" y="413400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20086" y="402427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38374" y="413400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61258" y="402427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9546" y="413400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7526" y="402427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5814" y="413400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3977640"/>
            <a:ext cx="534924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cutoff depth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1874520"/>
            <a:ext cx="4389120" cy="219456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2552" y="2039112"/>
            <a:ext cx="4059936" cy="1865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Cutoff-Test(state, depth):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Eval(state)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 minimax recursion</a:t>
            </a:r>
            <a:endParaRPr lang="en-US" sz="11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function design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evaluation function must be fast, informative and consistent.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17320"/>
            <a:ext cx="338328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1848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41832" y="2057400"/>
            <a:ext cx="30540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Called many times, so it must be cheap to compute.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417320"/>
            <a:ext cx="3383280" cy="1097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61848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53712" y="2057400"/>
            <a:ext cx="30540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values should usually indicate better positions for MAX.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001000" y="141732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FB8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1417320"/>
            <a:ext cx="3383280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161848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Feature-based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65592" y="2057400"/>
            <a:ext cx="30540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built as a weighted sum of features.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1828800" y="3886200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40507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Eval(s) = w₁f₁(s) + w₂f₂(s) + … + wₙfₙ(s)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Tic-Tac-Toe features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simple games can be evaluated through board features.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05840" y="141732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141732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41732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01168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201168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201168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60604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260604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260604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1545336"/>
            <a:ext cx="25603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64792" y="1545336"/>
            <a:ext cx="25603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64792" y="2139696"/>
            <a:ext cx="25603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70432" y="2734056"/>
            <a:ext cx="25603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59152" y="2734056"/>
            <a:ext cx="25603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0" y="1325880"/>
            <a:ext cx="37490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1325880"/>
            <a:ext cx="374904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152704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features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822192" y="1965960"/>
            <a:ext cx="3419856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lines for MAX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lines for MIN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Center control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Immediate winning threats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7818120" y="1325880"/>
            <a:ext cx="33375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1325880"/>
            <a:ext cx="333756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82712" y="15270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estimate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982712" y="1965960"/>
            <a:ext cx="3008376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Eval(s) =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3·open_X − 3·open_O + center_bonus + threat_bonus</a:t>
            </a:r>
            <a:endParaRPr lang="en-US" sz="13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vs utility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a true terminal value with a heuristic estimate.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4709160" cy="420624"/>
          </a:xfrm>
          <a:prstGeom prst="roundRect">
            <a:avLst>
              <a:gd name="adj" fmla="val 17391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45336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37960" y="1417320"/>
            <a:ext cx="4709160" cy="420624"/>
          </a:xfrm>
          <a:prstGeom prst="roundRect">
            <a:avLst>
              <a:gd name="adj" fmla="val 1739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545336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function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42976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Only for terminal states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Exact value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Defined by game rules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Example: win = +1, loss = −1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2148840"/>
            <a:ext cx="42976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non-terminal states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Estimated value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Defined by designer or learned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Example: material + position + threats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08760" y="484632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50109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Cutoff minimax uses Eval(s), not Utility(s), at non-terminal leaves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0" y="137160"/>
            <a:ext cx="12191695" cy="64739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Alpha-Beta Pruning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Getting the same minimax decision while exploring fewer nodes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09760" y="1371600"/>
            <a:ext cx="-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1371600"/>
            <a:ext cx="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2651760"/>
            <a:ext cx="-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651760"/>
            <a:ext cx="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2651760"/>
            <a:ext cx="-36576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2651760"/>
            <a:ext cx="73152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1887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Alpha-beta intuition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branches cannot influence the final decision.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-1280160" cy="1342339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17320"/>
            <a:ext cx="1280160" cy="1342339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2805379"/>
            <a:ext cx="-665683" cy="1342339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2805379"/>
            <a:ext cx="665683" cy="1342339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805379"/>
            <a:ext cx="-665683" cy="1342339"/>
          </a:xfrm>
          <a:prstGeom prst="line">
            <a:avLst/>
          </a:prstGeom>
          <a:noFill/>
          <a:ln w="22860">
            <a:solidFill>
              <a:srgbClr val="E63946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805379"/>
            <a:ext cx="665683" cy="1342339"/>
          </a:xfrm>
          <a:prstGeom prst="line">
            <a:avLst/>
          </a:prstGeom>
          <a:noFill/>
          <a:ln w="22860">
            <a:solidFill>
              <a:srgbClr val="E63946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23444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35331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65960" y="2622499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4248" y="2741371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26280" y="2622499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2741371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27709" y="401055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5997" y="412028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9075" y="401055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7363" y="412028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8029" y="401055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4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06317" y="412028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9395" y="4010558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4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7683" y="412028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150876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1508760"/>
            <a:ext cx="448056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1709928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Pruning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702552" y="2148840"/>
            <a:ext cx="41513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evaluating a branch when it is already worse than a known alternative.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6537960" y="297180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2971800"/>
            <a:ext cx="4480560" cy="1097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2552" y="3172968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result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702552" y="3611880"/>
            <a:ext cx="41513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Alpha-beta returns the same move as minimax.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6537960" y="44348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4434840"/>
            <a:ext cx="448056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02552" y="4636008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work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702552" y="5074920"/>
            <a:ext cx="41513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number of visited nodes can be dramatically smaller.</a:t>
            </a:r>
            <a:endParaRPr lang="en-US" sz="13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Alpha and beta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bounds summarize what is already known.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14630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276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α = best value MAX can guarantee so far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55080" y="14630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276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β = best value MIN can guarantee so far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468880" y="3154680"/>
            <a:ext cx="7132320" cy="411480"/>
          </a:xfrm>
          <a:prstGeom prst="leftRightArrow">
            <a:avLst/>
          </a:prstGeom>
          <a:solidFill>
            <a:srgbClr val="5B677A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356616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−∞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64040" y="356616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+∞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38862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398678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 lower bound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03720" y="38862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398678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β upper bound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23360" y="4846320"/>
            <a:ext cx="4114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Prune when α ≥ β</a:t>
            </a:r>
            <a:endParaRPr lang="en-US" sz="2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Alpha-beta pruning rule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any point, if MAX has an alternative better than what MIN allows, stop.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874520" y="146304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6276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α ≥ β, prune the remaining successors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" y="2788920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788920"/>
            <a:ext cx="448056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990088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MAX nodes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70432" y="3429000"/>
            <a:ext cx="41513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α with the best value found so far.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629400" y="2788920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788920"/>
            <a:ext cx="448056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2990088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MIN nodes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93992" y="3429000"/>
            <a:ext cx="41513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β with the best value found so far.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280160" y="4800600"/>
            <a:ext cx="9509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insight: a rational opponent will never let the pruned branch be chosen.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Alpha-beta pseudocode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structure is minimax plus bounds.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10744200" cy="5394960"/>
          </a:xfrm>
          <a:prstGeom prst="roundRect">
            <a:avLst>
              <a:gd name="adj" fmla="val 101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353312"/>
            <a:ext cx="10415016" cy="5065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MAX-VALUE(state, α, β):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Cutoff-Test(state): return Eval(state)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-∞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action a in Actions(state):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 = max(v, MIN-VALUE(Result(state,a), α, β))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 ≥ β: return v        // beta cutoff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α = max(α, v)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MIN-VALUE(state, α, β):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Cutoff-Test(state): return Eval(state)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+∞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action a in Actions(state):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 = min(v, MAX-VALUE(Result(state,a), α, β))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 ≤ α: return v        // alpha cutoff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β = min(β, v)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</a:t>
            </a:r>
            <a:endParaRPr lang="en-US" sz="11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 ordering matters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Alpha-beta is most effective when strong moves are considered early.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342900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184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ordering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057400"/>
            <a:ext cx="309981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Alpha-beta may explore almost as much as minimax.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FB8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417320"/>
            <a:ext cx="3429000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184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ordering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2057400"/>
            <a:ext cx="309981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branches become irrelevant earlier.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417320"/>
            <a:ext cx="3429000" cy="1097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16184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ordering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11312" y="2057400"/>
            <a:ext cx="309981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branching factor approaches √b.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2743200" y="4251960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44165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case time ≈ O(b^(m/2))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move ordering heuristics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usually try promising actions before weak actions.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512064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Captures or forcing moves first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Moves that give check or create threats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Previously successful moves from similar positions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Domain-specific ordering rules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iterative deepening to reuse prior information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732520" y="1417320"/>
            <a:ext cx="-1051560" cy="129707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32520" y="1417320"/>
            <a:ext cx="1051560" cy="129707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2760116"/>
            <a:ext cx="-546811" cy="129707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2760116"/>
            <a:ext cx="546811" cy="129707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84080" y="2760116"/>
            <a:ext cx="-546811" cy="129707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0" y="2760116"/>
            <a:ext cx="546811" cy="1297076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23444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135331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52360" y="2577236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0648" y="2696108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55480" y="2577236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2696108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32981" y="3920033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51269" y="402976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6603" y="3920033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4891" y="402976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36101" y="3920033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4389" y="402976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129723" y="3920033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8011" y="4029761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20240" y="5623560"/>
            <a:ext cx="83210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ordering → earlier cutoffs → deeper search with the same time budget.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0" y="137160"/>
            <a:ext cx="12191695" cy="647395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Beyond deterministic games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Chance, hidden information and real-world limits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09760" y="1371600"/>
            <a:ext cx="-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1371600"/>
            <a:ext cx="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2651760"/>
            <a:ext cx="-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651760"/>
            <a:ext cx="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2651760"/>
            <a:ext cx="-36576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2651760"/>
            <a:ext cx="73152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1887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Chance nodes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games combine adversarial decisions with randomness.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1325880"/>
            <a:ext cx="502920" cy="50292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51576" y="1508760"/>
            <a:ext cx="64008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053328" y="1828800"/>
            <a:ext cx="-2212848" cy="731520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2560320"/>
            <a:ext cx="512064" cy="457200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688336"/>
            <a:ext cx="109728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53328" y="1828800"/>
            <a:ext cx="1719072" cy="731520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16368" y="2560320"/>
            <a:ext cx="512064" cy="457200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688336"/>
            <a:ext cx="109728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397764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977640"/>
            <a:ext cx="47548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17880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 node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33272" y="4617720"/>
            <a:ext cx="44256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Represents random outcomes, such as dice rolls or card draws.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309360" y="406908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336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value = Σ pᵢ · valueᵢ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Expectiminimax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and MAX nodes are combined with expected-value chance nodes.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10241280" cy="27432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490472"/>
            <a:ext cx="9912096" cy="2414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node:      choose max over successors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node:      choose min over successors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CHANCE node:   return Σ probability(outcome) · value(outcome)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useful for games such as backgammon or stochastic simulations.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1874520" y="4617720"/>
            <a:ext cx="836676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478231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game tree + probability = expectiminimax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Imperfect information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games hide part of the state from the player.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417320"/>
            <a:ext cx="347472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61848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information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33272" y="2057400"/>
            <a:ext cx="314553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players observe the full state. Example: chess.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417320"/>
            <a:ext cx="347472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61848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Imperfect information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90872" y="2057400"/>
            <a:ext cx="314553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Players may not know cards, intentions or hidden variables. Example: poker.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183880" y="141732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FB8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417320"/>
            <a:ext cx="3154680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618488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Consequence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48472" y="2057400"/>
            <a:ext cx="282549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must reason about beliefs, probabilities and opponent models.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280160" y="4526280"/>
            <a:ext cx="9509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minimax assumes perfect information. Real AI systems often need richer models.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Games versus puzzles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Loopover is useful for search, but it is not adversarial.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4663440" cy="420624"/>
          </a:xfrm>
          <a:prstGeom prst="roundRect">
            <a:avLst>
              <a:gd name="adj" fmla="val 17391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4533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Loopover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4663440" cy="420624"/>
          </a:xfrm>
          <a:prstGeom prst="roundRect">
            <a:avLst>
              <a:gd name="adj" fmla="val 1739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54533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game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2148840"/>
            <a:ext cx="42519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Single agent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opponent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 configuration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returns a path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Cost = number of moves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2148840"/>
            <a:ext cx="42519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Two players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Opponent chooses actions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Terminal utility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returns a strategy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Value = outcome quality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50749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machinery: states, actions, result function, search tree. New ingredient: strategic conflict.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0" y="137160"/>
            <a:ext cx="12191695" cy="647395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and Assessment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Activities, common errors and unit recap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09760" y="1371600"/>
            <a:ext cx="-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1371600"/>
            <a:ext cx="1005840" cy="128016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2651760"/>
            <a:ext cx="-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651760"/>
            <a:ext cx="54864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2651760"/>
            <a:ext cx="-36576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2651760"/>
            <a:ext cx="731520" cy="1188720"/>
          </a:xfrm>
          <a:prstGeom prst="line">
            <a:avLst/>
          </a:prstGeom>
          <a:noFill/>
          <a:ln w="15240">
            <a:solidFill>
              <a:srgbClr val="CFE8FF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1887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46888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3657600"/>
            <a:ext cx="365760" cy="3657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FE8FF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activity: model a game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work in small groups and formalize a simple game.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3474720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1848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Choose a game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057400"/>
            <a:ext cx="314553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Tic-tac-toe, Connect Four mini-board, Nim or a custom game.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417320"/>
            <a:ext cx="3474720" cy="1097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1848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model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2057400"/>
            <a:ext cx="314553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state, actions, result, terminal test and utility.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FB8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417320"/>
            <a:ext cx="3474720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161848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Draw tree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11312" y="2057400"/>
            <a:ext cx="314553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at least two plies and annotate MAX/MIN levels.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1920240" y="36576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0240" y="3657600"/>
            <a:ext cx="393192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3858768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Apply minimax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084832" y="4297680"/>
            <a:ext cx="36027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 up values and justify the selected move.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657600"/>
            <a:ext cx="393192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858768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Identify pruning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73952" y="4297680"/>
            <a:ext cx="36027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at least one branch that alpha-beta could prune.</a:t>
            </a:r>
            <a:endParaRPr lang="en-US" sz="13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Exercise: minimax backup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the values from the leaves to the root.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15000" y="1417320"/>
            <a:ext cx="-1943100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1417320"/>
            <a:ext cx="1943100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1900" y="2850642"/>
            <a:ext cx="-1010412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71900" y="2850642"/>
            <a:ext cx="1010412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58100" y="2850642"/>
            <a:ext cx="-1010412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8100" y="2850642"/>
            <a:ext cx="1010412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23444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135331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43300" y="2667762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1588" y="278663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29500" y="2667762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7788" y="278663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410108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42108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81144" y="410108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42108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410108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42108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67344" y="410108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42108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5577840"/>
            <a:ext cx="8503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What value will MAX choose at the root? Which branch is selected?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Exercise: alpha-beta pruning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left-to-right expansion.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715000" y="1417320"/>
            <a:ext cx="-1943100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1417320"/>
            <a:ext cx="1943100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1900" y="2850642"/>
            <a:ext cx="-1010412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71900" y="2850642"/>
            <a:ext cx="1010412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58100" y="2850642"/>
            <a:ext cx="-1010412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8100" y="2850642"/>
            <a:ext cx="1010412" cy="1387602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23444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135331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43300" y="2667762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1588" y="278663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29500" y="2667762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7788" y="278663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410108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42108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81144" y="410108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42108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410108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42108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67344" y="4101084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42108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5577840"/>
            <a:ext cx="8503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Which leaves are actually needed? Which leaves can be pruned?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errors come from mixing the roles of MAX, MIN and evaluation.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978408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Using max at MIN nodes or min at MAX nodes.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Interpreting utility from the wrong player’s perspective.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Stopping at a cutoff but still calling it true utility.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Forgetting that alpha-beta changes efficiency, not the final decision.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Treating a puzzle like Loopover as if it had an opponent.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48840" y="507492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52395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minimax value · Fewer evaluated nodes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Mini-test preview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students should be able to answer after this unit.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996696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the difference between a search tree and a game tree?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does MIN choose the minimum value?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does alpha represent? What does beta represent?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is a branch pruned?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is move ordering important?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do we need evaluation functions?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recap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search turns problem solving into strategic decision-making.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63040"/>
            <a:ext cx="2560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model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69080" y="1417320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states, actions, result, terminal test, utility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075688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212848"/>
            <a:ext cx="2560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69080" y="2167128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 play against an optimal opponent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2825496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962656"/>
            <a:ext cx="2560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69080" y="2916936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non-terminal states when full search is impossible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3575304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712464"/>
            <a:ext cx="2560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Alpha-beta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69080" y="3666744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minimax decision with fewer visited nodes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325112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462272"/>
            <a:ext cx="2560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69080" y="4416552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 nodes, hidden information, opponent modelling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66160" y="5760720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unit: Reinforcement Learning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12B46"/>
          </a:solidFill>
          <a:ln w="12700">
            <a:solidFill>
              <a:srgbClr val="112B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Inteligentes · Grado en Ingeniería Informática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424160" y="6656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D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thought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move is not the move that looks good now, but the move that remains good after the opponent replies.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-1188720" cy="11009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1188720" cy="11009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2609698"/>
            <a:ext cx="-618134" cy="11009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609698"/>
            <a:ext cx="618134" cy="11009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2609698"/>
            <a:ext cx="-618134" cy="11009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609698"/>
            <a:ext cx="618134" cy="1100938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280160"/>
            <a:ext cx="457200" cy="457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16168" y="1399032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426818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2545690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86600" y="2426818"/>
            <a:ext cx="457200" cy="457200"/>
          </a:xfrm>
          <a:prstGeom prst="ellipse">
            <a:avLst/>
          </a:prstGeom>
          <a:solidFill>
            <a:srgbClr val="FB8500"/>
          </a:solidFill>
          <a:ln w="15240">
            <a:solidFill>
              <a:srgbClr val="112B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4888" y="2545690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8458" y="3573475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6746" y="368320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54726" y="3573475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3014" y="368320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5898" y="3573475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4186" y="368320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32166" y="3573475"/>
            <a:ext cx="4023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50454" y="3683203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20240" y="50749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52395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 ahead · Assume resistance · Choose robustly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Universidad de Castilla-La Mancha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5 - Adversarial Search</dc:title>
  <dc:subject>Sistemas Inteligentes - Tema 5</dc:subject>
  <dc:creator>Rubén Juárez Cádiz</dc:creator>
  <cp:lastModifiedBy>Rubén Juárez Cádiz</cp:lastModifiedBy>
  <cp:revision>1</cp:revision>
  <dcterms:created xsi:type="dcterms:W3CDTF">2026-09-23T13:59:24Z</dcterms:created>
  <dcterms:modified xsi:type="dcterms:W3CDTF">2026-09-23T13:59:24Z</dcterms:modified>
</cp:coreProperties>
</file>