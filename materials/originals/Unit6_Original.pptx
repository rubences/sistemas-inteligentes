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804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F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Reinforcement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13232" y="30632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by acting, receiving rewards and improving behaviour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89520" y="128016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CFF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5087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379476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CFFAFE">
              <a:alpha val="90000"/>
            </a:srgbClr>
          </a:solidFill>
          <a:ln w="15240">
            <a:solidFill>
              <a:srgbClr val="CFF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4023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366760" y="2029968"/>
            <a:ext cx="0" cy="1700784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287000" y="3730752"/>
            <a:ext cx="0" cy="-1700784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83450" y="2752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10928" y="2688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rₜ₊₁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sₜ₊₁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61447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UCLM · 2026/2027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this unit fits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search and games to agents that learn from experience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02412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816" y="17282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862072" y="172821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736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04288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910328" y="172821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52544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958584" y="17282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CSP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9006840" y="1728216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4504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49056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1055096" y="172821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5276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97312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1005840" y="374904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749040"/>
            <a:ext cx="484632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395020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170432" y="4315968"/>
            <a:ext cx="4517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previous units, we assumed a known model or an explicit problem definition. In reinforcement learning, the agent improves through interaction.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9360" y="374904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749040"/>
            <a:ext cx="4846320" cy="100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395020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transition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473952" y="4315968"/>
            <a:ext cx="4517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 changes from “How do I search?” to “How do I learn what to do by trying actions and receiving rewards?”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reinforcement learning setting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Agent, environment, reward and sequential decisions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0" y="429768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489204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0" y="429768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548640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reinforcement learning?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learning agent acts, observes consequences and updates its behaviour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51560" y="141732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45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438912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6177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920240" y="2167128"/>
            <a:ext cx="0" cy="215798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23360" y="4325112"/>
            <a:ext cx="0" cy="-215798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2805" y="30998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92424" y="3026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rₜ₊₁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sₜ₊₁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14630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463040"/>
            <a:ext cx="530352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66420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signal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833872" y="2029968"/>
            <a:ext cx="49743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is not told the correct action. It receives a reward signal that evaluates the consequence of its behaviour.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0" y="30632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063240"/>
            <a:ext cx="530352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326440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effect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833872" y="3630168"/>
            <a:ext cx="49743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action can look bad immediately but be useful in the long term. RL studies this delayed-consequence setting.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49834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50932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interaction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498348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509320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and error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21240" y="49834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94392" y="509320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delayed reward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learning paradigms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of feedback determines the learning problem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329184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184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learning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87552" y="1984248"/>
            <a:ext cx="296265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examples include the desired output.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image → label.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17320"/>
            <a:ext cx="329184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184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 learning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99432" y="1984248"/>
            <a:ext cx="296265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target output. The system discovers structure.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clustering.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417320"/>
            <a:ext cx="32918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6184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 learning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11312" y="1984248"/>
            <a:ext cx="296265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is a reward after acting in an environment.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game playing or robot control.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728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is not simply “classification with rewards”: the data distribution depends on the actions selected by the agent.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RL applications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appears when actions influence future observations and rewards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329184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52704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87552" y="1892808"/>
            <a:ext cx="29626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games, Atari-like games, strategic decision making.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325880"/>
            <a:ext cx="329184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52704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Robotics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99432" y="1892808"/>
            <a:ext cx="29626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Navigation, manipulation, control and adaptation.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32588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325880"/>
            <a:ext cx="32918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52704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11312" y="1892808"/>
            <a:ext cx="29626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Scheduling, dynamic pricing, resource allocation.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33756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337560"/>
            <a:ext cx="329184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53872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7552" y="3904488"/>
            <a:ext cx="29626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recommendation today affects future preferences and engagement.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333756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337560"/>
            <a:ext cx="3291840" cy="100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353872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599432" y="3904488"/>
            <a:ext cx="29626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defence policies, triage, containment actions.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333756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337560"/>
            <a:ext cx="3291840" cy="1005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11312" y="353872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211312" y="3904488"/>
            <a:ext cx="29626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Tutoring policies: what hint, exercise or explanation to give next.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RL interaction loop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each step, the agent selects an action and the environment responds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97280" y="14630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461772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846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11680" y="2212848"/>
            <a:ext cx="0" cy="23408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6240" y="4553712"/>
            <a:ext cx="0" cy="-23408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2182" y="3229661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47872" y="315285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rₜ₊₁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sₜ₊₁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64208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sₜ → aₜ → rₜ₊₁, sₜ₊₁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35040" y="2606040"/>
            <a:ext cx="47548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sₜ: current state or observation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aₜ: selected action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rₜ₊₁: scalar reward received after acting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sₜ₊₁: next state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4892040"/>
            <a:ext cx="5029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agent’s objective is not to maximize the next reward only, but the accumulated reward over time.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Markov Decision Process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standard mathematical model for sequential decision making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224028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52704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 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87552" y="1892808"/>
            <a:ext cx="19110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situations of the environment.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132588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325880"/>
            <a:ext cx="224028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52704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02152" y="1892808"/>
            <a:ext cx="19110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Choices available to the agent.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52160" y="132588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325880"/>
            <a:ext cx="224028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152704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016752" y="1892808"/>
            <a:ext cx="19110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of the next state after action.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66760" y="132588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325880"/>
            <a:ext cx="2240280" cy="100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152704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531352" y="1892808"/>
            <a:ext cx="19110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feedback for transitions.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0" y="338328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3538728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MDP = (S, A, P, R, γ)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828800" y="4800600"/>
            <a:ext cx="8503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Markov property: the current state contains all information needed to predict the next step, given the action.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Markov property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future depends on the present state, not on the full history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7276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P(sₜ₊₁ | s₀, a₀, …, sₜ, aₜ) = P(sₜ₊₁ | sₜ, aₜ)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260604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06040"/>
            <a:ext cx="493776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80720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8992" y="3172968"/>
            <a:ext cx="46085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allows the agent to reason using compact state descriptions rather than entire histories.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260604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606040"/>
            <a:ext cx="493776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80720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issue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73952" y="3172968"/>
            <a:ext cx="46085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observations are partial, the agent may need memory or a learned internal state to approximate Markovian behaviour.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97680" y="461772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461772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5776" y="461772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9824" y="461772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33872" y="461772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500176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500176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5120640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65776" y="500176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16A3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5120640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9824" y="500176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5120640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s′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33872" y="500176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538581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538581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65776" y="538581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9824" y="538581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33872" y="538581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policy tells the agent what action to take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05840" y="1463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184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π(s) = action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6184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π(a | s) = probability of action a in state 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05840" y="27432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743200"/>
            <a:ext cx="402336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94436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policy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70432" y="3310128"/>
            <a:ext cx="36941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returns the same action for a given state.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0" y="27432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743200"/>
            <a:ext cx="51206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94436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Stochastic policy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833872" y="3310128"/>
            <a:ext cx="47914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a distribution over actions. Useful for exploration.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94560" y="4846320"/>
            <a:ext cx="7772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 RL often means improving the policy.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Reward, return and discount factor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optimizes long-term accumulated reward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2704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Gₜ = rₜ₊₁ + γ rₜ₊₂ + γ² rₜ₊₃ + …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040880" y="13258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1325880"/>
            <a:ext cx="411480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152704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05472" y="1892808"/>
            <a:ext cx="378561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scalar feedback. It defines what the agent should prefer.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26517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651760"/>
            <a:ext cx="411480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85292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205472" y="3218688"/>
            <a:ext cx="378561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discounted reward from a time step onward.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40880" y="39776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3977640"/>
            <a:ext cx="411480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417880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γ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205472" y="4544568"/>
            <a:ext cx="378561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the importance of future reward. Usually 0 ≤ γ &lt; 1.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8016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γ: long-term behaviour · Low γ: short-term behaviour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II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functions and Bellman equations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an agent estimates how good states and actions are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0" y="429768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489204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0" y="429768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548640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functions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value function estimates expected future return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72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Vπ(s) = Eπ[Gₜ | sₜ = s]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72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Qπ(s,a) = Eπ[Gₜ | sₜ=s, aₜ=a]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560320"/>
            <a:ext cx="466344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76148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value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3127248"/>
            <a:ext cx="4334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good is it to be in state s if we follow policy 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560320"/>
            <a:ext cx="46634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76148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value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65392" y="3127248"/>
            <a:ext cx="4334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good is it to take action a in state s and then follow policy π?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103120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1216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55264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9312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03120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87168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1216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71216" y="4800600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55264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9312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87168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1216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55264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9312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82128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66176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50224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34272" y="4297680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82128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66176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16A3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66176" y="4800600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50224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34272" y="4681728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0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82128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66176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50224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34272" y="5065776"/>
            <a:ext cx="356616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Bellman intuition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decisions are built from immediate reward plus the value of what follows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97280" y="141732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57276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now = immediate reward + discounted value later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828800" y="2743200"/>
            <a:ext cx="2011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2743200"/>
            <a:ext cx="2011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2743200"/>
            <a:ext cx="2011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51560" y="248716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596896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248716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2596896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248716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2596896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72600" y="248716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5752" y="2596896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state s′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20624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206240"/>
            <a:ext cx="475488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40740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structure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78992" y="4773168"/>
            <a:ext cx="44256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of a state depends on the value of possible next states.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20624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206240"/>
            <a:ext cx="475488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40740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consequence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773168"/>
            <a:ext cx="44256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can update estimates locally while gradually improving global behaviour.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Bellman equations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evaluates a policy; control searches for the best policy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25880"/>
            <a:ext cx="329184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52704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Bellman expectation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33272" y="1892808"/>
            <a:ext cx="29626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a fixed policy π.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good is this behaviour?”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46304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18488"/>
            <a:ext cx="6217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Vπ(s) = Eπ[R + γVπ(s′)]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68680" y="34290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29000"/>
            <a:ext cx="32918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63016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Bellman optimality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33272" y="3995928"/>
            <a:ext cx="29626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action.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should the agent do?”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34840" y="356616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721608"/>
            <a:ext cx="6217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V*(s) = maxₐ E[R + γV*(s′)]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920240" y="5257800"/>
            <a:ext cx="8229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→ estimate values · Control → improve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gridworld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world for reasoning about values and policies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27632" y="1417320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40864" y="1417320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4096" y="1417320"/>
            <a:ext cx="685800" cy="685800"/>
          </a:xfrm>
          <a:prstGeom prst="roundRect">
            <a:avLst>
              <a:gd name="adj" fmla="val 5333"/>
            </a:avLst>
          </a:prstGeom>
          <a:solidFill>
            <a:srgbClr val="16A3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153619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2130552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27632" y="2130552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0864" y="2130552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54096" y="2130552"/>
            <a:ext cx="685800" cy="685800"/>
          </a:xfrm>
          <a:prstGeom prst="roundRect">
            <a:avLst>
              <a:gd name="adj" fmla="val 5333"/>
            </a:avLst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224942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2843784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27632" y="2843784"/>
            <a:ext cx="685800" cy="685800"/>
          </a:xfrm>
          <a:prstGeom prst="roundRect">
            <a:avLst>
              <a:gd name="adj" fmla="val 5333"/>
            </a:avLst>
          </a:prstGeom>
          <a:solidFill>
            <a:srgbClr val="94A3B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296265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40864" y="2843784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54096" y="2843784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557016"/>
            <a:ext cx="685800" cy="685800"/>
          </a:xfrm>
          <a:prstGeom prst="roundRect">
            <a:avLst>
              <a:gd name="adj" fmla="val 5333"/>
            </a:avLst>
          </a:prstGeom>
          <a:solidFill>
            <a:srgbClr val="2563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67588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27632" y="3557016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0864" y="3557016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54096" y="3557016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1463040"/>
            <a:ext cx="30175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= cell position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= up, down, left, right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 = terminal or step costs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= arrow in each cell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1812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1417320"/>
            <a:ext cx="342900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82712" y="161848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task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982712" y="1984248"/>
            <a:ext cx="3099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policy that reaches the positive terminal state while avoiding penalties.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18120" y="2971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2971800"/>
            <a:ext cx="342900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82712" y="317296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982712" y="3538728"/>
            <a:ext cx="3099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must balance short paths, risk and delayed reward.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III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Model-based and model-free learning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with or without an explicit transition model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0" y="429768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489204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0" y="429768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548640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broad RL families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agent learn or use a model of the environment?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417320"/>
            <a:ext cx="466344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61848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Model-based RL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1984248"/>
            <a:ext cx="433425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or uses P(s′|s,a) and R(s,a,s′). Then plans using that model.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417320"/>
            <a:ext cx="46634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61848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Model-free RL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65392" y="1984248"/>
            <a:ext cx="433425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values or policies directly from experience, without explicitly modelling transitions.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280160" y="39776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133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→ planning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629400" y="397764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133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→ value/policy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63040" y="5257800"/>
            <a:ext cx="9235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course focuses on the conceptual basis: rewards, policies, values, exploration and updates.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learning routes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estimate value from interaction?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417320"/>
            <a:ext cx="329184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6184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Programming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33272" y="1984248"/>
            <a:ext cx="296265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 known model. Uses Bellman backups.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17320"/>
            <a:ext cx="329184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184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Monte Carlo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99432" y="1984248"/>
            <a:ext cx="296265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from complete episodes. Uses actual returns.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0100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1417320"/>
            <a:ext cx="32918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16184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Difference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65592" y="1984248"/>
            <a:ext cx="296265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from incomplete episodes. Bootstraps from current estimates.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4300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133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DP: model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470916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133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MC: wait until end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27532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133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TD: learn every step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Difference learning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estimates using reward plus the estimated value of the next state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7276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V(s) ← V(s) + α [ r + γV(s′) − V(s)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26974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97480"/>
            <a:ext cx="320040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8986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 · learning rate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8992" y="3264408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strongly the new experience changes the estimate.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6974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697480"/>
            <a:ext cx="320040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8986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γ · discount factor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45152" y="3264408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the next-state estimate matters.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6974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697480"/>
            <a:ext cx="320040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8986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 error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11312" y="3264408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+ γV(s′) − V(s) measures surprise or correction.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828800" y="4754880"/>
            <a:ext cx="8503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 combines experience with current estimates: it learns before the episode finishes.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Q-learning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model-free control method based on action values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078992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727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Q(s,a) ← Q(s,a) + α [ r + γ maxₐ′ Q(s′,a′) − Q(s,a)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43200"/>
            <a:ext cx="384048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94436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Q*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33272" y="3310128"/>
            <a:ext cx="351129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estimates the value of taking action a in state s under an optimal continuation.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83480" y="2743200"/>
            <a:ext cx="6309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2743200"/>
            <a:ext cx="630936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2944368"/>
            <a:ext cx="5980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Off-policy idea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148072" y="3310128"/>
            <a:ext cx="59801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update uses the best next action according to current Q, not necessarily the action actually taken next.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920240" y="4572000"/>
            <a:ext cx="832104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4736592"/>
            <a:ext cx="799185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step: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choose action using exploration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observe r and s_next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Q[s,a] += alpha * (r + gamma * maxQ[s_next] - Q[s,a])</a:t>
            </a:r>
            <a:endParaRPr lang="en-US" sz="10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SARSA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model-free control method that updates from the action actually taken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7276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Q(s,a) ← Q(s,a) + α [ r + γ Q(s′,a′) − Q(s,a)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43200"/>
            <a:ext cx="4846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94436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On-policy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8992" y="3310128"/>
            <a:ext cx="45171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learns the value of the behaviour policy actually used, including its exploration.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743200"/>
            <a:ext cx="484632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94436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with Q-learning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73952" y="3310128"/>
            <a:ext cx="45171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Q-learning updates toward the greedy next value; SARSA updates toward the selected next action.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28800" y="4892040"/>
            <a:ext cx="8503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SARSA = State, Action, Reward, next State, next Action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Exploration vs exploitation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must choose between trying and using what it already knows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417320"/>
            <a:ext cx="466344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61848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1984248"/>
            <a:ext cx="433425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actions to discover better long-term rewards.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417320"/>
            <a:ext cx="46634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61848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65392" y="1984248"/>
            <a:ext cx="433425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currently best-known action.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828800" y="347472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630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ε-greedy: random action with probability ε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743200" y="4572000"/>
            <a:ext cx="68580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Large ε → more exploration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ε → more exploitation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common strategy is to decrease ε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Reward design matters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optimizes exactly the reward signal it receives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71600"/>
            <a:ext cx="320040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57276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reward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1938528"/>
            <a:ext cx="28712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appears only at the end. Learning can be slow.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371600"/>
            <a:ext cx="320040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57276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reward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45152" y="1938528"/>
            <a:ext cx="28712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feedback. Faster learning but risk of unintended shortcuts.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371600"/>
            <a:ext cx="3200400" cy="100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57276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hacking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11312" y="1938528"/>
            <a:ext cx="28712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finds behaviour that maximizes reward but violates the intended objective.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17320" y="3977640"/>
            <a:ext cx="93268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reward design should express the real objective, not an easy-to-exploit proxy.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IV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Connecting RL with the course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games, Loopover and modern agents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0" y="429768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489204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0" y="429768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5486400"/>
            <a:ext cx="310896" cy="31089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FAFE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Search, games and reinforcement learning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agent view, different assumptions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63040"/>
            <a:ext cx="306324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64208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0392" y="2029968"/>
            <a:ext cx="2734056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before acting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06240" y="146304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463040"/>
            <a:ext cx="306324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1664208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Search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370832" y="2029968"/>
            <a:ext cx="2734056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function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planning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26680" y="146304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1463040"/>
            <a:ext cx="306324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1272" y="1664208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 Learning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91272" y="2029968"/>
            <a:ext cx="2734056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reward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through acting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is especially useful when the best behaviour is not known in advance and must be learned through experience.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Could Loopover be solved with RL?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but search is often the cleaner model for this assignment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71600"/>
            <a:ext cx="493776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57276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Loopover as search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33272" y="1938528"/>
            <a:ext cx="460857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is known. Actions are deterministic. Goal is explicit. Search can plan directly.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13716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371600"/>
            <a:ext cx="493776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57276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Loopover as RL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19672" y="1938528"/>
            <a:ext cx="460857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rewards for moving closer to solved state; train a policy from experience.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0" y="406908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069080"/>
            <a:ext cx="813816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4270248"/>
            <a:ext cx="7808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2176272" y="4636008"/>
            <a:ext cx="78089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problem can be framed in different AI paradigms, but the simplest valid model is usually preferred.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tabular RL to deep RL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state space is large, value tables become impossible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81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Q-table: one value per state-action pair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81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RL: neural network approximates value or policy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468880"/>
            <a:ext cx="493776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67004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Tabular RL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3035808"/>
            <a:ext cx="46085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well in small discrete environments such as gridworlds.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468880"/>
            <a:ext cx="493776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67004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approximation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73952" y="3035808"/>
            <a:ext cx="46085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Generalizes across similar states, but introduces instability and more design choices.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71600" y="4846320"/>
            <a:ext cx="9418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course, understand the classical RL concepts first; deep RL is an extension, not a replacement.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responsible use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is powerful but can be brittle, expensive and hard to validate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25880"/>
            <a:ext cx="320040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5270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efficiency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33272" y="1892808"/>
            <a:ext cx="28712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RL methods need a large number of interactions.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325880"/>
            <a:ext cx="3200400" cy="100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5270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45152" y="1892808"/>
            <a:ext cx="28712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exploration can be unacceptable in real systems.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325880"/>
            <a:ext cx="320040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5270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mismatch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57032" y="1892808"/>
            <a:ext cx="28712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specified reward may not match the real objective.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828800" y="34747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3474720"/>
            <a:ext cx="402336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367588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993392" y="4041648"/>
            <a:ext cx="36941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may vary across seeds, scenarios and environment changes.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4747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474720"/>
            <a:ext cx="402336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67588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Interpretability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519672" y="4041648"/>
            <a:ext cx="36941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 learned by RL may be difficult to explain.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In-class activity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 RL formulation for a simple problem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25880"/>
            <a:ext cx="310896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52704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problem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33272" y="1892808"/>
            <a:ext cx="277977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Gridworld, delivery robot, tutoring system, cybersecurity triage, or simplified game.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26280" y="132588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325880"/>
            <a:ext cx="310896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52704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MDP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90872" y="1892808"/>
            <a:ext cx="277977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States, actions, transition assumptions, rewards and discount factor.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132588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325880"/>
            <a:ext cx="310896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52704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method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48472" y="1892808"/>
            <a:ext cx="277977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learning, Q-learning, SARSA or a policy-based idea.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80160" y="4572000"/>
            <a:ext cx="9601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one diagram of the agent-environment loop and one table with S, A, R, γ and policy objective.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Mini-test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questions for quick checking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1005840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the difference between reward and return?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does the discount factor γ control?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is exploration necessary?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Write the Q-learning update and identify the TD error.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why reward design can fail in real systems.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5120640"/>
            <a:ext cx="9966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answers to detect confusion between immediate reward, long-term value and policy improvement.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 learning closes the agent-centred view of the course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25880"/>
            <a:ext cx="320040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5270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Agent loop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33272" y="1892808"/>
            <a:ext cx="28712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agents learn by acting and receiving rewards.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325880"/>
            <a:ext cx="3200400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5270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MDP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45152" y="1892808"/>
            <a:ext cx="28712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decision problems can be formalized as states, actions, transitions, rewards and discount.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325880"/>
            <a:ext cx="320040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5270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Value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57032" y="1892808"/>
            <a:ext cx="28712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and Q estimate long-term return, not only immediate reward.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920240" y="33832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3383280"/>
            <a:ext cx="356616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358444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Learning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084832" y="3950208"/>
            <a:ext cx="32369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TD, SARSA and Q-learning update estimates from experience.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33832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383280"/>
            <a:ext cx="3566160" cy="100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358444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Design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748272" y="3950208"/>
            <a:ext cx="32369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Exploration, reward design and evaluation determine whether RL works in practice.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63040" y="5349240"/>
            <a:ext cx="9235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integrate the six units into revision, exercises and exam preparation.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Universidad de Castilla-La Mancha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6 - Reinforcement Learning</dc:title>
  <dc:subject>Sistemas Inteligentes - Tema 6</dc:subject>
  <dc:creator>Rubén Juárez Cádiz</dc:creator>
  <cp:lastModifiedBy>Rubén Juárez Cádiz</cp:lastModifiedBy>
  <cp:revision>1</cp:revision>
  <dcterms:created xsi:type="dcterms:W3CDTF">2026-09-23T14:09:45Z</dcterms:created>
  <dcterms:modified xsi:type="dcterms:W3CDTF">2026-09-23T14:09:45Z</dcterms:modified>
</cp:coreProperties>
</file>